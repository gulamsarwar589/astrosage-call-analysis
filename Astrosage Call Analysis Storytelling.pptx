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GB"/>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0EC953E6-0E43-4907-8045-A7F8D46A35EF}" type="datetimeFigureOut">
              <a:rPr lang="en-US" smtClean="0"/>
              <a:t>8/13/2026</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A0ABB298-BB13-4388-9D02-2D7FD23F6752}" type="slidenum">
              <a:rPr lang="en-US" smtClean="0"/>
              <a:t>‹#›</a:t>
            </a:fld>
            <a:endParaRPr lang="en-US"/>
          </a:p>
        </p:txBody>
      </p:sp>
    </p:spTree>
    <p:extLst>
      <p:ext uri="{BB962C8B-B14F-4D97-AF65-F5344CB8AC3E}">
        <p14:creationId xmlns:p14="http://schemas.microsoft.com/office/powerpoint/2010/main" val="3509312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EC953E6-0E43-4907-8045-A7F8D46A35EF}"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BB298-BB13-4388-9D02-2D7FD23F6752}" type="slidenum">
              <a:rPr lang="en-US" smtClean="0"/>
              <a:t>‹#›</a:t>
            </a:fld>
            <a:endParaRPr lang="en-US"/>
          </a:p>
        </p:txBody>
      </p:sp>
    </p:spTree>
    <p:extLst>
      <p:ext uri="{BB962C8B-B14F-4D97-AF65-F5344CB8AC3E}">
        <p14:creationId xmlns:p14="http://schemas.microsoft.com/office/powerpoint/2010/main" val="2495973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EC953E6-0E43-4907-8045-A7F8D46A35EF}"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0ABB298-BB13-4388-9D02-2D7FD23F6752}" type="slidenum">
              <a:rPr lang="en-US" smtClean="0"/>
              <a:t>‹#›</a:t>
            </a:fld>
            <a:endParaRPr lang="en-US"/>
          </a:p>
        </p:txBody>
      </p:sp>
    </p:spTree>
    <p:extLst>
      <p:ext uri="{BB962C8B-B14F-4D97-AF65-F5344CB8AC3E}">
        <p14:creationId xmlns:p14="http://schemas.microsoft.com/office/powerpoint/2010/main" val="23982850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0EC953E6-0E43-4907-8045-A7F8D46A35EF}"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BB298-BB13-4388-9D02-2D7FD23F6752}" type="slidenum">
              <a:rPr lang="en-US" smtClean="0"/>
              <a:t>‹#›</a:t>
            </a:fld>
            <a:endParaRPr lang="en-US"/>
          </a:p>
        </p:txBody>
      </p:sp>
    </p:spTree>
    <p:extLst>
      <p:ext uri="{BB962C8B-B14F-4D97-AF65-F5344CB8AC3E}">
        <p14:creationId xmlns:p14="http://schemas.microsoft.com/office/powerpoint/2010/main" val="3073175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0EC953E6-0E43-4907-8045-A7F8D46A35EF}" type="datetimeFigureOut">
              <a:rPr lang="en-US" smtClean="0"/>
              <a:t>8/13/2026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ABB298-BB13-4388-9D02-2D7FD23F6752}" type="slidenum">
              <a:rPr lang="en-US" smtClean="0"/>
              <a:t>‹#›</a:t>
            </a:fld>
            <a:endParaRPr lang="en-US"/>
          </a:p>
        </p:txBody>
      </p:sp>
    </p:spTree>
    <p:extLst>
      <p:ext uri="{BB962C8B-B14F-4D97-AF65-F5344CB8AC3E}">
        <p14:creationId xmlns:p14="http://schemas.microsoft.com/office/powerpoint/2010/main" val="3827520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0EC953E6-0E43-4907-8045-A7F8D46A35EF}" type="datetimeFigureOut">
              <a:rPr lang="en-US" smtClean="0"/>
              <a:t>8/13/2026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ABB298-BB13-4388-9D02-2D7FD23F6752}" type="slidenum">
              <a:rPr lang="en-US" smtClean="0"/>
              <a:t>‹#›</a:t>
            </a:fld>
            <a:endParaRPr lang="en-US"/>
          </a:p>
        </p:txBody>
      </p:sp>
    </p:spTree>
    <p:extLst>
      <p:ext uri="{BB962C8B-B14F-4D97-AF65-F5344CB8AC3E}">
        <p14:creationId xmlns:p14="http://schemas.microsoft.com/office/powerpoint/2010/main" val="243840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C953E6-0E43-4907-8045-A7F8D46A35EF}" type="datetimeFigureOut">
              <a:rPr lang="en-US" smtClean="0"/>
              <a:t>8/13/2026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A0ABB298-BB13-4388-9D02-2D7FD23F6752}" type="slidenum">
              <a:rPr lang="en-US" smtClean="0"/>
              <a:t>‹#›</a:t>
            </a:fld>
            <a:endParaRPr lang="en-US"/>
          </a:p>
        </p:txBody>
      </p:sp>
    </p:spTree>
    <p:extLst>
      <p:ext uri="{BB962C8B-B14F-4D97-AF65-F5344CB8AC3E}">
        <p14:creationId xmlns:p14="http://schemas.microsoft.com/office/powerpoint/2010/main" val="2483980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0EC953E6-0E43-4907-8045-A7F8D46A35EF}"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0ABB298-BB13-4388-9D02-2D7FD23F6752}" type="slidenum">
              <a:rPr lang="en-US" smtClean="0"/>
              <a:t>‹#›</a:t>
            </a:fld>
            <a:endParaRPr lang="en-US"/>
          </a:p>
        </p:txBody>
      </p:sp>
    </p:spTree>
    <p:extLst>
      <p:ext uri="{BB962C8B-B14F-4D97-AF65-F5344CB8AC3E}">
        <p14:creationId xmlns:p14="http://schemas.microsoft.com/office/powerpoint/2010/main" val="2754474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GB"/>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0EC953E6-0E43-4907-8045-A7F8D46A35EF}"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0ABB298-BB13-4388-9D02-2D7FD23F6752}" type="slidenum">
              <a:rPr lang="en-US" smtClean="0"/>
              <a:t>‹#›</a:t>
            </a:fld>
            <a:endParaRPr lang="en-US"/>
          </a:p>
        </p:txBody>
      </p:sp>
    </p:spTree>
    <p:extLst>
      <p:ext uri="{BB962C8B-B14F-4D97-AF65-F5344CB8AC3E}">
        <p14:creationId xmlns:p14="http://schemas.microsoft.com/office/powerpoint/2010/main" val="67124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0EC953E6-0E43-4907-8045-A7F8D46A35EF}"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0ABB298-BB13-4388-9D02-2D7FD23F6752}" type="slidenum">
              <a:rPr lang="en-US" smtClean="0"/>
              <a:t>‹#›</a:t>
            </a:fld>
            <a:endParaRPr lang="en-US"/>
          </a:p>
        </p:txBody>
      </p:sp>
    </p:spTree>
    <p:extLst>
      <p:ext uri="{BB962C8B-B14F-4D97-AF65-F5344CB8AC3E}">
        <p14:creationId xmlns:p14="http://schemas.microsoft.com/office/powerpoint/2010/main" val="3660949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GB"/>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0EC953E6-0E43-4907-8045-A7F8D46A35EF}"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0ABB298-BB13-4388-9D02-2D7FD23F6752}" type="slidenum">
              <a:rPr lang="en-US" smtClean="0"/>
              <a:t>‹#›</a:t>
            </a:fld>
            <a:endParaRPr lang="en-US"/>
          </a:p>
        </p:txBody>
      </p:sp>
    </p:spTree>
    <p:extLst>
      <p:ext uri="{BB962C8B-B14F-4D97-AF65-F5344CB8AC3E}">
        <p14:creationId xmlns:p14="http://schemas.microsoft.com/office/powerpoint/2010/main" val="17235257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GB"/>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0EC953E6-0E43-4907-8045-A7F8D46A35EF}"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0ABB298-BB13-4388-9D02-2D7FD23F6752}" type="slidenum">
              <a:rPr lang="en-US" smtClean="0"/>
              <a:t>‹#›</a:t>
            </a:fld>
            <a:endParaRPr lang="en-US"/>
          </a:p>
        </p:txBody>
      </p:sp>
    </p:spTree>
    <p:extLst>
      <p:ext uri="{BB962C8B-B14F-4D97-AF65-F5344CB8AC3E}">
        <p14:creationId xmlns:p14="http://schemas.microsoft.com/office/powerpoint/2010/main" val="7827545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EC953E6-0E43-4907-8045-A7F8D46A35EF}"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0ABB298-BB13-4388-9D02-2D7FD23F6752}" type="slidenum">
              <a:rPr lang="en-US" smtClean="0"/>
              <a:t>‹#›</a:t>
            </a:fld>
            <a:endParaRPr lang="en-US"/>
          </a:p>
        </p:txBody>
      </p:sp>
    </p:spTree>
    <p:extLst>
      <p:ext uri="{BB962C8B-B14F-4D97-AF65-F5344CB8AC3E}">
        <p14:creationId xmlns:p14="http://schemas.microsoft.com/office/powerpoint/2010/main" val="22097625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EC953E6-0E43-4907-8045-A7F8D46A35EF}" type="datetimeFigureOut">
              <a:rPr lang="en-US" smtClean="0"/>
              <a:t>8/13/2026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ABB298-BB13-4388-9D02-2D7FD23F6752}" type="slidenum">
              <a:rPr lang="en-US" smtClean="0"/>
              <a:t>‹#›</a:t>
            </a:fld>
            <a:endParaRPr lang="en-US"/>
          </a:p>
        </p:txBody>
      </p:sp>
    </p:spTree>
    <p:extLst>
      <p:ext uri="{BB962C8B-B14F-4D97-AF65-F5344CB8AC3E}">
        <p14:creationId xmlns:p14="http://schemas.microsoft.com/office/powerpoint/2010/main" val="37347361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EC953E6-0E43-4907-8045-A7F8D46A35EF}" type="datetimeFigureOut">
              <a:rPr lang="en-US" smtClean="0"/>
              <a:t>8/13/2026</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A0ABB298-BB13-4388-9D02-2D7FD23F6752}" type="slidenum">
              <a:rPr lang="en-US" smtClean="0"/>
              <a:t>‹#›</a:t>
            </a:fld>
            <a:endParaRPr lang="en-US"/>
          </a:p>
        </p:txBody>
      </p:sp>
    </p:spTree>
    <p:extLst>
      <p:ext uri="{BB962C8B-B14F-4D97-AF65-F5344CB8AC3E}">
        <p14:creationId xmlns:p14="http://schemas.microsoft.com/office/powerpoint/2010/main" val="4268842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0EC953E6-0E43-4907-8045-A7F8D46A35EF}"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BB298-BB13-4388-9D02-2D7FD23F6752}" type="slidenum">
              <a:rPr lang="en-US" smtClean="0"/>
              <a:t>‹#›</a:t>
            </a:fld>
            <a:endParaRPr lang="en-US"/>
          </a:p>
        </p:txBody>
      </p:sp>
    </p:spTree>
    <p:extLst>
      <p:ext uri="{BB962C8B-B14F-4D97-AF65-F5344CB8AC3E}">
        <p14:creationId xmlns:p14="http://schemas.microsoft.com/office/powerpoint/2010/main" val="13263026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0EC953E6-0E43-4907-8045-A7F8D46A35EF}"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0ABB298-BB13-4388-9D02-2D7FD23F6752}" type="slidenum">
              <a:rPr lang="en-US" smtClean="0"/>
              <a:t>‹#›</a:t>
            </a:fld>
            <a:endParaRPr lang="en-US"/>
          </a:p>
        </p:txBody>
      </p:sp>
    </p:spTree>
    <p:extLst>
      <p:ext uri="{BB962C8B-B14F-4D97-AF65-F5344CB8AC3E}">
        <p14:creationId xmlns:p14="http://schemas.microsoft.com/office/powerpoint/2010/main" val="2647575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GB"/>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0EC953E6-0E43-4907-8045-A7F8D46A35EF}" type="datetimeFigureOut">
              <a:rPr lang="en-US" smtClean="0"/>
              <a:t>8/13/2026</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A0ABB298-BB13-4388-9D02-2D7FD23F6752}" type="slidenum">
              <a:rPr lang="en-US" smtClean="0"/>
              <a:t>‹#›</a:t>
            </a:fld>
            <a:endParaRPr lang="en-US"/>
          </a:p>
        </p:txBody>
      </p:sp>
    </p:spTree>
    <p:extLst>
      <p:ext uri="{BB962C8B-B14F-4D97-AF65-F5344CB8AC3E}">
        <p14:creationId xmlns:p14="http://schemas.microsoft.com/office/powerpoint/2010/main" val="14050590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4B4BC-43AA-70E2-CA25-D582E13D2166}"/>
              </a:ext>
            </a:extLst>
          </p:cNvPr>
          <p:cNvSpPr>
            <a:spLocks noGrp="1"/>
          </p:cNvSpPr>
          <p:nvPr>
            <p:ph type="ctrTitle"/>
          </p:nvPr>
        </p:nvSpPr>
        <p:spPr>
          <a:xfrm>
            <a:off x="1624752" y="478075"/>
            <a:ext cx="8825658" cy="861420"/>
          </a:xfrm>
        </p:spPr>
        <p:txBody>
          <a:bodyPr/>
          <a:lstStyle/>
          <a:p>
            <a:pPr algn="ctr"/>
            <a:r>
              <a:rPr lang="en-US" dirty="0" err="1">
                <a:latin typeface="Cooper Black" panose="0208090404030B020404" pitchFamily="18" charset="0"/>
              </a:rPr>
              <a:t>Astrosage</a:t>
            </a:r>
            <a:r>
              <a:rPr lang="en-US" dirty="0">
                <a:latin typeface="Cooper Black" panose="0208090404030B020404" pitchFamily="18" charset="0"/>
              </a:rPr>
              <a:t> Call Analysis</a:t>
            </a:r>
          </a:p>
        </p:txBody>
      </p:sp>
      <p:sp>
        <p:nvSpPr>
          <p:cNvPr id="3" name="Subtitle 2">
            <a:extLst>
              <a:ext uri="{FF2B5EF4-FFF2-40B4-BE49-F238E27FC236}">
                <a16:creationId xmlns:a16="http://schemas.microsoft.com/office/drawing/2014/main" id="{AE970CC1-89AB-4368-7C27-83A64B4231AC}"/>
              </a:ext>
            </a:extLst>
          </p:cNvPr>
          <p:cNvSpPr>
            <a:spLocks noGrp="1"/>
          </p:cNvSpPr>
          <p:nvPr>
            <p:ph type="subTitle" idx="1"/>
          </p:nvPr>
        </p:nvSpPr>
        <p:spPr>
          <a:xfrm>
            <a:off x="1400615" y="1256258"/>
            <a:ext cx="8825658" cy="861420"/>
          </a:xfrm>
        </p:spPr>
        <p:txBody>
          <a:bodyPr/>
          <a:lstStyle/>
          <a:p>
            <a:pPr algn="ctr"/>
            <a:r>
              <a:rPr lang="en-US" dirty="0">
                <a:solidFill>
                  <a:schemeClr val="bg2"/>
                </a:solidFill>
                <a:latin typeface="Castellar" panose="020A0402060406010301" pitchFamily="18" charset="0"/>
              </a:rPr>
              <a:t>Gulam Sarwar</a:t>
            </a:r>
          </a:p>
          <a:p>
            <a:pPr algn="ctr"/>
            <a:r>
              <a:rPr lang="en-US" dirty="0">
                <a:solidFill>
                  <a:schemeClr val="bg2"/>
                </a:solidFill>
                <a:latin typeface="Castellar" panose="020A0402060406010301" pitchFamily="18" charset="0"/>
              </a:rPr>
              <a:t>09/08/2026</a:t>
            </a:r>
          </a:p>
        </p:txBody>
      </p:sp>
      <p:pic>
        <p:nvPicPr>
          <p:cNvPr id="5" name="Picture 4">
            <a:extLst>
              <a:ext uri="{FF2B5EF4-FFF2-40B4-BE49-F238E27FC236}">
                <a16:creationId xmlns:a16="http://schemas.microsoft.com/office/drawing/2014/main" id="{FA432E11-D561-ACD6-1F3E-33C77FE53E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3321" y="1932295"/>
            <a:ext cx="4130509" cy="4130509"/>
          </a:xfrm>
          <a:prstGeom prst="rect">
            <a:avLst/>
          </a:prstGeom>
        </p:spPr>
      </p:pic>
      <p:pic>
        <p:nvPicPr>
          <p:cNvPr id="7" name="Picture 6">
            <a:extLst>
              <a:ext uri="{FF2B5EF4-FFF2-40B4-BE49-F238E27FC236}">
                <a16:creationId xmlns:a16="http://schemas.microsoft.com/office/drawing/2014/main" id="{4FC69C1B-9BC5-D5B4-3934-7AA18F5FC6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9097" y="3148794"/>
            <a:ext cx="1934224" cy="1882894"/>
          </a:xfrm>
          <a:prstGeom prst="rect">
            <a:avLst/>
          </a:prstGeom>
        </p:spPr>
      </p:pic>
      <p:pic>
        <p:nvPicPr>
          <p:cNvPr id="8" name="Picture 7">
            <a:extLst>
              <a:ext uri="{FF2B5EF4-FFF2-40B4-BE49-F238E27FC236}">
                <a16:creationId xmlns:a16="http://schemas.microsoft.com/office/drawing/2014/main" id="{281322D5-B422-AC03-AB7A-13FD4C429B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83830" y="3185650"/>
            <a:ext cx="1934224" cy="1882894"/>
          </a:xfrm>
          <a:prstGeom prst="rect">
            <a:avLst/>
          </a:prstGeom>
        </p:spPr>
      </p:pic>
    </p:spTree>
    <p:extLst>
      <p:ext uri="{BB962C8B-B14F-4D97-AF65-F5344CB8AC3E}">
        <p14:creationId xmlns:p14="http://schemas.microsoft.com/office/powerpoint/2010/main" val="1558880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D3731-DF88-FF66-29E8-BA0A91A3B7F4}"/>
              </a:ext>
            </a:extLst>
          </p:cNvPr>
          <p:cNvSpPr>
            <a:spLocks noGrp="1"/>
          </p:cNvSpPr>
          <p:nvPr>
            <p:ph type="title"/>
          </p:nvPr>
        </p:nvSpPr>
        <p:spPr>
          <a:xfrm>
            <a:off x="1715293" y="960021"/>
            <a:ext cx="8761413" cy="706964"/>
          </a:xfrm>
        </p:spPr>
        <p:txBody>
          <a:bodyPr/>
          <a:lstStyle/>
          <a:p>
            <a:pPr algn="ctr"/>
            <a:r>
              <a:rPr lang="en-US" dirty="0">
                <a:latin typeface="Cooper Black" panose="0208090404030B020404" pitchFamily="18" charset="0"/>
              </a:rPr>
              <a:t>Introduction to </a:t>
            </a:r>
            <a:r>
              <a:rPr lang="en-US" dirty="0" err="1">
                <a:latin typeface="Cooper Black" panose="0208090404030B020404" pitchFamily="18" charset="0"/>
              </a:rPr>
              <a:t>AstroSage</a:t>
            </a:r>
            <a:endParaRPr lang="en-US" dirty="0">
              <a:latin typeface="Cooper Black" panose="0208090404030B020404" pitchFamily="18" charset="0"/>
            </a:endParaRPr>
          </a:p>
        </p:txBody>
      </p:sp>
      <p:sp>
        <p:nvSpPr>
          <p:cNvPr id="3" name="Content Placeholder 2">
            <a:extLst>
              <a:ext uri="{FF2B5EF4-FFF2-40B4-BE49-F238E27FC236}">
                <a16:creationId xmlns:a16="http://schemas.microsoft.com/office/drawing/2014/main" id="{5AF83C94-0063-D373-8F6C-4038508F0F69}"/>
              </a:ext>
            </a:extLst>
          </p:cNvPr>
          <p:cNvSpPr>
            <a:spLocks noGrp="1"/>
          </p:cNvSpPr>
          <p:nvPr>
            <p:ph idx="1"/>
          </p:nvPr>
        </p:nvSpPr>
        <p:spPr/>
        <p:txBody>
          <a:bodyPr/>
          <a:lstStyle/>
          <a:p>
            <a:r>
              <a:rPr lang="en-US" sz="1600" b="1" dirty="0" err="1"/>
              <a:t>AstroSage</a:t>
            </a:r>
            <a:r>
              <a:rPr lang="en-US" sz="1600" dirty="0"/>
              <a:t> is a leading astrology platform offering horoscope matching, birth chart generation, and AI astrologers. It helps users with daily and specialized queries related to important life decisions. </a:t>
            </a:r>
            <a:r>
              <a:rPr lang="en-US" sz="1600" dirty="0" err="1"/>
              <a:t>AstroSage</a:t>
            </a:r>
            <a:r>
              <a:rPr lang="en-US" sz="1600" dirty="0"/>
              <a:t> provides astrological services through experts from different schools of astrology.</a:t>
            </a:r>
          </a:p>
          <a:p>
            <a:r>
              <a:rPr lang="en-US" sz="1600" b="1" dirty="0" err="1"/>
              <a:t>AstroSage</a:t>
            </a:r>
            <a:r>
              <a:rPr lang="en-US" sz="1600" b="1" dirty="0"/>
              <a:t> </a:t>
            </a:r>
            <a:r>
              <a:rPr lang="en-US" sz="1600" dirty="0"/>
              <a:t>handled 28,027 customer interactions in the analyzed period creating a significant opportunity to improve service efficiency and customer experience.</a:t>
            </a:r>
          </a:p>
          <a:p>
            <a:r>
              <a:rPr lang="en-US" b="1" dirty="0"/>
              <a:t>Objectives: </a:t>
            </a:r>
            <a:r>
              <a:rPr lang="en-US" sz="1600" dirty="0"/>
              <a:t>The objective of this project is to analyze call and chat volumes, identify peak days and hours, evaluate call and chat completion, analyze agent workload and performance, measure customer satisfaction, identify operational and technology gaps, and recommend an effective allocation of the ₹1 Crore investment.</a:t>
            </a:r>
          </a:p>
        </p:txBody>
      </p:sp>
      <p:pic>
        <p:nvPicPr>
          <p:cNvPr id="5" name="Picture 4">
            <a:extLst>
              <a:ext uri="{FF2B5EF4-FFF2-40B4-BE49-F238E27FC236}">
                <a16:creationId xmlns:a16="http://schemas.microsoft.com/office/drawing/2014/main" id="{A81DDED1-180D-CEEB-D1B2-E0D3776E9D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018" y="477671"/>
            <a:ext cx="1387871" cy="1377029"/>
          </a:xfrm>
          <a:prstGeom prst="rect">
            <a:avLst/>
          </a:prstGeom>
        </p:spPr>
      </p:pic>
    </p:spTree>
    <p:extLst>
      <p:ext uri="{BB962C8B-B14F-4D97-AF65-F5344CB8AC3E}">
        <p14:creationId xmlns:p14="http://schemas.microsoft.com/office/powerpoint/2010/main" val="3901090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7291DE5-87BF-88D1-693D-A86FB52AC08D}"/>
              </a:ext>
            </a:extLst>
          </p:cNvPr>
          <p:cNvSpPr>
            <a:spLocks noGrp="1"/>
          </p:cNvSpPr>
          <p:nvPr>
            <p:ph idx="1"/>
          </p:nvPr>
        </p:nvSpPr>
        <p:spPr>
          <a:xfrm>
            <a:off x="1154953" y="2368714"/>
            <a:ext cx="8825659" cy="4489286"/>
          </a:xfrm>
        </p:spPr>
        <p:txBody>
          <a:bodyPr/>
          <a:lstStyle/>
          <a:p>
            <a:r>
              <a:rPr lang="en-US" sz="1600" b="1" dirty="0"/>
              <a:t>28,027 records</a:t>
            </a:r>
            <a:r>
              <a:rPr lang="en-US" sz="1600" dirty="0"/>
              <a:t> and </a:t>
            </a:r>
            <a:r>
              <a:rPr lang="en-US" sz="1600" b="1" dirty="0"/>
              <a:t>30 attributes</a:t>
            </a:r>
            <a:r>
              <a:rPr lang="en-US" sz="1600" dirty="0"/>
              <a:t> covering customer calls, chats, Gurus, ratings, revenue and interaction status.</a:t>
            </a:r>
          </a:p>
          <a:p>
            <a:r>
              <a:rPr lang="en-US" sz="1600" dirty="0"/>
              <a:t>The dataset contains information on customer interactions, channels, call/chat status, agent performance, revenue and customer ratings.</a:t>
            </a:r>
          </a:p>
          <a:p>
            <a:r>
              <a:rPr lang="en-US" sz="1600" dirty="0"/>
              <a:t>The data was prepared in the </a:t>
            </a:r>
            <a:r>
              <a:rPr lang="en-US" sz="1600" b="1" dirty="0"/>
              <a:t>Cleaned data</a:t>
            </a:r>
            <a:r>
              <a:rPr lang="en-US" sz="1600" dirty="0"/>
              <a:t> worksheet for analysis.</a:t>
            </a:r>
          </a:p>
          <a:p>
            <a:r>
              <a:rPr lang="en-US" sz="1600" b="1" dirty="0"/>
              <a:t>Objective and Subjective worksheets</a:t>
            </a:r>
            <a:r>
              <a:rPr lang="en-US" sz="1600" dirty="0"/>
              <a:t> were used to understand the business questions and analysis requirements.</a:t>
            </a:r>
          </a:p>
          <a:p>
            <a:r>
              <a:rPr lang="en-US" sz="1600" dirty="0"/>
              <a:t>The data is critical for identifying </a:t>
            </a:r>
            <a:r>
              <a:rPr lang="en-US" sz="1600" b="1" dirty="0"/>
              <a:t>demand patterns, operational gaps, customer satisfaction issues and investment opportunities</a:t>
            </a:r>
            <a:r>
              <a:rPr lang="en-US" sz="1600" dirty="0"/>
              <a:t>.</a:t>
            </a:r>
          </a:p>
          <a:p>
            <a:r>
              <a:rPr lang="en-US" sz="1600" dirty="0"/>
              <a:t>Standardized dates, times, categorical fields and numerical values, and created derived fields such as </a:t>
            </a:r>
            <a:r>
              <a:rPr lang="en-US" sz="1600" b="1" dirty="0"/>
              <a:t>date, month and hour</a:t>
            </a:r>
            <a:r>
              <a:rPr lang="en-US" sz="1600" dirty="0"/>
              <a:t> to ensure the dataset was accurate and analysis-ready.</a:t>
            </a:r>
          </a:p>
          <a:p>
            <a:endParaRPr lang="en-US" sz="1600" dirty="0"/>
          </a:p>
          <a:p>
            <a:endParaRPr lang="en-US" sz="1600" dirty="0"/>
          </a:p>
          <a:p>
            <a:endParaRPr lang="en-US" sz="1600" dirty="0"/>
          </a:p>
        </p:txBody>
      </p:sp>
      <p:pic>
        <p:nvPicPr>
          <p:cNvPr id="8" name="Picture 7">
            <a:extLst>
              <a:ext uri="{FF2B5EF4-FFF2-40B4-BE49-F238E27FC236}">
                <a16:creationId xmlns:a16="http://schemas.microsoft.com/office/drawing/2014/main" id="{1E2229A0-5350-98EE-4595-B1FD8DE5D9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018" y="477671"/>
            <a:ext cx="1387871" cy="1377029"/>
          </a:xfrm>
          <a:prstGeom prst="rect">
            <a:avLst/>
          </a:prstGeom>
        </p:spPr>
      </p:pic>
      <p:sp>
        <p:nvSpPr>
          <p:cNvPr id="10" name="Title 1">
            <a:extLst>
              <a:ext uri="{FF2B5EF4-FFF2-40B4-BE49-F238E27FC236}">
                <a16:creationId xmlns:a16="http://schemas.microsoft.com/office/drawing/2014/main" id="{72EC20AD-749D-655F-A527-8858D5851AFB}"/>
              </a:ext>
            </a:extLst>
          </p:cNvPr>
          <p:cNvSpPr>
            <a:spLocks noGrp="1"/>
          </p:cNvSpPr>
          <p:nvPr>
            <p:ph type="title"/>
          </p:nvPr>
        </p:nvSpPr>
        <p:spPr>
          <a:xfrm>
            <a:off x="1715293" y="1051261"/>
            <a:ext cx="8761413" cy="706964"/>
          </a:xfrm>
        </p:spPr>
        <p:txBody>
          <a:bodyPr/>
          <a:lstStyle/>
          <a:p>
            <a:pPr algn="ctr"/>
            <a:r>
              <a:rPr lang="en-US" dirty="0" err="1">
                <a:latin typeface="Cooper Black" panose="0208090404030B020404" pitchFamily="18" charset="0"/>
              </a:rPr>
              <a:t>Astrosage</a:t>
            </a:r>
            <a:r>
              <a:rPr lang="en-US" dirty="0">
                <a:latin typeface="Cooper Black" panose="0208090404030B020404" pitchFamily="18" charset="0"/>
              </a:rPr>
              <a:t> Data Overview</a:t>
            </a:r>
          </a:p>
        </p:txBody>
      </p:sp>
    </p:spTree>
    <p:extLst>
      <p:ext uri="{BB962C8B-B14F-4D97-AF65-F5344CB8AC3E}">
        <p14:creationId xmlns:p14="http://schemas.microsoft.com/office/powerpoint/2010/main" val="4106872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6873F-C31C-FD6F-A0AB-FAC5B1D30B7D}"/>
              </a:ext>
            </a:extLst>
          </p:cNvPr>
          <p:cNvSpPr>
            <a:spLocks noGrp="1"/>
          </p:cNvSpPr>
          <p:nvPr>
            <p:ph type="title"/>
          </p:nvPr>
        </p:nvSpPr>
        <p:spPr>
          <a:xfrm>
            <a:off x="1715293" y="1011491"/>
            <a:ext cx="8761413" cy="706964"/>
          </a:xfrm>
        </p:spPr>
        <p:txBody>
          <a:bodyPr/>
          <a:lstStyle/>
          <a:p>
            <a:pPr algn="ctr"/>
            <a:r>
              <a:rPr lang="en-US" dirty="0">
                <a:latin typeface="Cooper Black" panose="0208090404030B020404" pitchFamily="18" charset="0"/>
              </a:rPr>
              <a:t>Analytical Approach and Tools</a:t>
            </a:r>
          </a:p>
        </p:txBody>
      </p:sp>
      <p:sp>
        <p:nvSpPr>
          <p:cNvPr id="3" name="Content Placeholder 2">
            <a:extLst>
              <a:ext uri="{FF2B5EF4-FFF2-40B4-BE49-F238E27FC236}">
                <a16:creationId xmlns:a16="http://schemas.microsoft.com/office/drawing/2014/main" id="{201B3270-E48D-5AED-4487-D3BDF8A39F98}"/>
              </a:ext>
            </a:extLst>
          </p:cNvPr>
          <p:cNvSpPr>
            <a:spLocks noGrp="1"/>
          </p:cNvSpPr>
          <p:nvPr>
            <p:ph idx="1"/>
          </p:nvPr>
        </p:nvSpPr>
        <p:spPr>
          <a:xfrm>
            <a:off x="1154954" y="2289174"/>
            <a:ext cx="8825659" cy="4568825"/>
          </a:xfrm>
        </p:spPr>
        <p:txBody>
          <a:bodyPr>
            <a:normAutofit/>
          </a:bodyPr>
          <a:lstStyle/>
          <a:p>
            <a:r>
              <a:rPr lang="en-US" sz="1600" b="1" dirty="0"/>
              <a:t>Data Cleaning:</a:t>
            </a:r>
            <a:r>
              <a:rPr lang="en-US" sz="1600" dirty="0"/>
              <a:t> Standardized date, time, categorical and numerical fields and prepared the dataset for analysis using </a:t>
            </a:r>
            <a:r>
              <a:rPr lang="en-US" sz="1600" b="1" dirty="0"/>
              <a:t>Remove Duplicates</a:t>
            </a:r>
            <a:r>
              <a:rPr lang="en-US" sz="1600" dirty="0"/>
              <a:t>, </a:t>
            </a:r>
            <a:r>
              <a:rPr lang="en-US" sz="1600" b="1" dirty="0"/>
              <a:t>TRIM, PROPER, IF/ISBLANK and Paste as Values.</a:t>
            </a:r>
          </a:p>
          <a:p>
            <a:r>
              <a:rPr lang="en-US" sz="1600" b="1" dirty="0"/>
              <a:t>Data Enrichment:</a:t>
            </a:r>
            <a:r>
              <a:rPr lang="en-US" sz="1600" dirty="0"/>
              <a:t> Created additional fields such as </a:t>
            </a:r>
            <a:r>
              <a:rPr lang="en-US" sz="1600" b="1" dirty="0"/>
              <a:t>Date, Month and Hour</a:t>
            </a:r>
            <a:r>
              <a:rPr lang="en-US" sz="1600" dirty="0"/>
              <a:t> to enable detailed time-based analysis.</a:t>
            </a:r>
          </a:p>
          <a:p>
            <a:r>
              <a:rPr lang="en-US" sz="1600" b="1" dirty="0"/>
              <a:t>Trend Analysis:</a:t>
            </a:r>
            <a:r>
              <a:rPr lang="en-US" sz="1600" dirty="0"/>
              <a:t> Analyzed </a:t>
            </a:r>
            <a:r>
              <a:rPr lang="en-US" sz="1600" b="1" dirty="0"/>
              <a:t>daily, monthly and hourly interaction patterns</a:t>
            </a:r>
            <a:r>
              <a:rPr lang="en-US" sz="1600" dirty="0"/>
              <a:t> to identify demand and peak periods.</a:t>
            </a:r>
          </a:p>
          <a:p>
            <a:r>
              <a:rPr lang="en-US" sz="1600" b="1" dirty="0"/>
              <a:t>Data Analysis: </a:t>
            </a:r>
            <a:r>
              <a:rPr lang="en-US" sz="1600" dirty="0"/>
              <a:t>PivotTables, grouping, sorting, filtering and formulas such as </a:t>
            </a:r>
            <a:r>
              <a:rPr lang="en-US" sz="1600" b="1" dirty="0"/>
              <a:t>COUNT, COUNTIF, AVERAGE, ROUND, MAX, MIN, XLOOKUP, CORREL and GETPIVOTDATA</a:t>
            </a:r>
          </a:p>
          <a:p>
            <a:r>
              <a:rPr lang="en-US" sz="1600" b="1" dirty="0"/>
              <a:t>Visualization:</a:t>
            </a:r>
            <a:r>
              <a:rPr lang="en-US" sz="1600" dirty="0"/>
              <a:t> Created </a:t>
            </a:r>
            <a:r>
              <a:rPr lang="en-US" sz="1600" b="1" dirty="0"/>
              <a:t>Pivot tables and Charts, KPI cards and interactive slicers</a:t>
            </a:r>
            <a:r>
              <a:rPr lang="en-US" sz="1600" dirty="0"/>
              <a:t> to present insights and enable data exploration.</a:t>
            </a:r>
          </a:p>
          <a:p>
            <a:r>
              <a:rPr lang="en-US" sz="1600" b="1" dirty="0"/>
              <a:t>Performance Analysis:</a:t>
            </a:r>
            <a:r>
              <a:rPr lang="en-US" sz="1600" dirty="0"/>
              <a:t> Compared channel performance, completion rates, agent workload and customer ratings.</a:t>
            </a:r>
          </a:p>
          <a:p>
            <a:r>
              <a:rPr lang="en-US" sz="1600" b="1" dirty="0"/>
              <a:t>Business Insights: </a:t>
            </a:r>
            <a:r>
              <a:rPr lang="en-US" sz="1600" dirty="0"/>
              <a:t>Demand trends, service completion, agent workload, customer satisfaction and revenue analysis</a:t>
            </a:r>
          </a:p>
          <a:p>
            <a:endParaRPr lang="en-US" sz="1600" b="1" dirty="0"/>
          </a:p>
          <a:p>
            <a:endParaRPr lang="en-US" sz="1600" dirty="0"/>
          </a:p>
        </p:txBody>
      </p:sp>
      <p:pic>
        <p:nvPicPr>
          <p:cNvPr id="4" name="Picture 3">
            <a:extLst>
              <a:ext uri="{FF2B5EF4-FFF2-40B4-BE49-F238E27FC236}">
                <a16:creationId xmlns:a16="http://schemas.microsoft.com/office/drawing/2014/main" id="{A4FFC7EC-168B-08B3-31C1-80734C75D2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018" y="477671"/>
            <a:ext cx="1387871" cy="1377029"/>
          </a:xfrm>
          <a:prstGeom prst="rect">
            <a:avLst/>
          </a:prstGeom>
        </p:spPr>
      </p:pic>
    </p:spTree>
    <p:extLst>
      <p:ext uri="{BB962C8B-B14F-4D97-AF65-F5344CB8AC3E}">
        <p14:creationId xmlns:p14="http://schemas.microsoft.com/office/powerpoint/2010/main" val="2988871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180F0-A22A-B81F-D2E8-9883E64DDCC3}"/>
              </a:ext>
            </a:extLst>
          </p:cNvPr>
          <p:cNvSpPr>
            <a:spLocks noGrp="1"/>
          </p:cNvSpPr>
          <p:nvPr>
            <p:ph type="title"/>
          </p:nvPr>
        </p:nvSpPr>
        <p:spPr>
          <a:xfrm>
            <a:off x="1715293" y="708431"/>
            <a:ext cx="8761413" cy="706964"/>
          </a:xfrm>
        </p:spPr>
        <p:txBody>
          <a:bodyPr/>
          <a:lstStyle/>
          <a:p>
            <a:pPr algn="ctr"/>
            <a:r>
              <a:rPr lang="en-US" dirty="0">
                <a:latin typeface="Cooper Black" panose="0208090404030B020404" pitchFamily="18" charset="0"/>
              </a:rPr>
              <a:t>Customer Demand &amp; Call Volume</a:t>
            </a:r>
          </a:p>
        </p:txBody>
      </p:sp>
      <p:sp>
        <p:nvSpPr>
          <p:cNvPr id="3" name="Content Placeholder 2">
            <a:extLst>
              <a:ext uri="{FF2B5EF4-FFF2-40B4-BE49-F238E27FC236}">
                <a16:creationId xmlns:a16="http://schemas.microsoft.com/office/drawing/2014/main" id="{77EAA8FF-40F4-DAA9-DAD2-D236F58815F1}"/>
              </a:ext>
            </a:extLst>
          </p:cNvPr>
          <p:cNvSpPr>
            <a:spLocks noGrp="1"/>
          </p:cNvSpPr>
          <p:nvPr>
            <p:ph idx="1"/>
          </p:nvPr>
        </p:nvSpPr>
        <p:spPr>
          <a:xfrm>
            <a:off x="20130" y="2385136"/>
            <a:ext cx="6257840" cy="4370506"/>
          </a:xfrm>
        </p:spPr>
        <p:txBody>
          <a:bodyPr>
            <a:normAutofit/>
          </a:bodyPr>
          <a:lstStyle/>
          <a:p>
            <a:r>
              <a:rPr lang="en-US" b="1" u="sng" dirty="0"/>
              <a:t>Insights And Key Findings:</a:t>
            </a:r>
          </a:p>
          <a:p>
            <a:r>
              <a:rPr lang="en-US" sz="1600" dirty="0"/>
              <a:t>The average daily call volume was </a:t>
            </a:r>
            <a:r>
              <a:rPr lang="en-US" sz="1600" b="1" dirty="0"/>
              <a:t>245.97 </a:t>
            </a:r>
            <a:r>
              <a:rPr lang="en-US" sz="1600" dirty="0"/>
              <a:t>calls.</a:t>
            </a:r>
          </a:p>
          <a:p>
            <a:r>
              <a:rPr lang="en-US" sz="1600" b="1" dirty="0"/>
              <a:t>December </a:t>
            </a:r>
            <a:r>
              <a:rPr lang="en-US" sz="1600" dirty="0"/>
              <a:t>recorded the highest call volume with </a:t>
            </a:r>
            <a:r>
              <a:rPr lang="en-US" sz="1600" b="1" dirty="0"/>
              <a:t>8,090 </a:t>
            </a:r>
            <a:r>
              <a:rPr lang="en-US" sz="1600" dirty="0"/>
              <a:t>calls.</a:t>
            </a:r>
          </a:p>
          <a:p>
            <a:r>
              <a:rPr lang="en-US" sz="1600" b="1" dirty="0"/>
              <a:t>January</a:t>
            </a:r>
            <a:r>
              <a:rPr lang="en-US" sz="1600" dirty="0"/>
              <a:t> recorded the lowest call volume with </a:t>
            </a:r>
            <a:r>
              <a:rPr lang="en-US" sz="1600" b="1" dirty="0"/>
              <a:t>418</a:t>
            </a:r>
            <a:r>
              <a:rPr lang="en-US" sz="1600" dirty="0"/>
              <a:t> calls.</a:t>
            </a:r>
          </a:p>
          <a:p>
            <a:r>
              <a:rPr lang="en-US" sz="1600" dirty="0"/>
              <a:t>The sharp variation in demand indicates the need for </a:t>
            </a:r>
            <a:r>
              <a:rPr lang="en-US" sz="1600" b="1" dirty="0"/>
              <a:t>flexible, demand-based workforce planning</a:t>
            </a:r>
            <a:r>
              <a:rPr lang="en-US" sz="1600" dirty="0"/>
              <a:t>.</a:t>
            </a:r>
          </a:p>
          <a:p>
            <a:r>
              <a:rPr lang="en-US" sz="1600" dirty="0"/>
              <a:t>December also resulted in significantly higher operational cost due to the higher workload.</a:t>
            </a:r>
          </a:p>
          <a:p>
            <a:r>
              <a:rPr lang="en-US" b="1" u="sng" dirty="0"/>
              <a:t>Key takeaway:</a:t>
            </a:r>
          </a:p>
          <a:p>
            <a:r>
              <a:rPr lang="en-US" sz="1600" dirty="0"/>
              <a:t>Call demand varies significantly over time, making flexible staffing more effective than maintaining fixed staffing levels.</a:t>
            </a:r>
          </a:p>
        </p:txBody>
      </p:sp>
      <p:pic>
        <p:nvPicPr>
          <p:cNvPr id="4" name="Picture 3">
            <a:extLst>
              <a:ext uri="{FF2B5EF4-FFF2-40B4-BE49-F238E27FC236}">
                <a16:creationId xmlns:a16="http://schemas.microsoft.com/office/drawing/2014/main" id="{CBEB11AC-8ED8-96BC-9335-3F150A91E0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018" y="477671"/>
            <a:ext cx="1387871" cy="1377029"/>
          </a:xfrm>
          <a:prstGeom prst="rect">
            <a:avLst/>
          </a:prstGeom>
        </p:spPr>
      </p:pic>
      <p:pic>
        <p:nvPicPr>
          <p:cNvPr id="6" name="Picture 5">
            <a:extLst>
              <a:ext uri="{FF2B5EF4-FFF2-40B4-BE49-F238E27FC236}">
                <a16:creationId xmlns:a16="http://schemas.microsoft.com/office/drawing/2014/main" id="{71D5DC16-FF40-E6D6-7ED0-FBFDAC4680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7497" y="2815040"/>
            <a:ext cx="5894503" cy="3510697"/>
          </a:xfrm>
          <a:prstGeom prst="rect">
            <a:avLst/>
          </a:prstGeom>
        </p:spPr>
      </p:pic>
    </p:spTree>
    <p:extLst>
      <p:ext uri="{BB962C8B-B14F-4D97-AF65-F5344CB8AC3E}">
        <p14:creationId xmlns:p14="http://schemas.microsoft.com/office/powerpoint/2010/main" val="1115743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29873-EC3E-721A-46BE-DF4960391820}"/>
              </a:ext>
            </a:extLst>
          </p:cNvPr>
          <p:cNvSpPr>
            <a:spLocks noGrp="1"/>
          </p:cNvSpPr>
          <p:nvPr>
            <p:ph type="title"/>
          </p:nvPr>
        </p:nvSpPr>
        <p:spPr>
          <a:xfrm>
            <a:off x="1848889" y="1042252"/>
            <a:ext cx="8761413" cy="706964"/>
          </a:xfrm>
        </p:spPr>
        <p:txBody>
          <a:bodyPr/>
          <a:lstStyle/>
          <a:p>
            <a:r>
              <a:rPr lang="en-US" dirty="0">
                <a:latin typeface="Cooper Black" panose="0208090404030B020404" pitchFamily="18" charset="0"/>
              </a:rPr>
              <a:t>Revenue &amp; Interaction Performance</a:t>
            </a:r>
          </a:p>
        </p:txBody>
      </p:sp>
      <p:sp>
        <p:nvSpPr>
          <p:cNvPr id="3" name="Content Placeholder 2">
            <a:extLst>
              <a:ext uri="{FF2B5EF4-FFF2-40B4-BE49-F238E27FC236}">
                <a16:creationId xmlns:a16="http://schemas.microsoft.com/office/drawing/2014/main" id="{23314894-FC0C-F392-9BA0-C3E1F10276FA}"/>
              </a:ext>
            </a:extLst>
          </p:cNvPr>
          <p:cNvSpPr>
            <a:spLocks noGrp="1"/>
          </p:cNvSpPr>
          <p:nvPr>
            <p:ph idx="1"/>
          </p:nvPr>
        </p:nvSpPr>
        <p:spPr>
          <a:xfrm>
            <a:off x="1" y="2350697"/>
            <a:ext cx="5909480" cy="4507303"/>
          </a:xfrm>
        </p:spPr>
        <p:txBody>
          <a:bodyPr>
            <a:normAutofit/>
          </a:bodyPr>
          <a:lstStyle/>
          <a:p>
            <a:r>
              <a:rPr lang="en-US" b="1" u="sng" dirty="0"/>
              <a:t>Insights And Key Findings:</a:t>
            </a:r>
          </a:p>
          <a:p>
            <a:r>
              <a:rPr lang="en-US" sz="1600" b="1" dirty="0"/>
              <a:t>Call</a:t>
            </a:r>
            <a:r>
              <a:rPr lang="en-US" sz="1600" dirty="0"/>
              <a:t> is the largest revenue-generating consultation type.</a:t>
            </a:r>
          </a:p>
          <a:p>
            <a:r>
              <a:rPr lang="en-US" sz="1600" dirty="0"/>
              <a:t>Calls generated approximately </a:t>
            </a:r>
            <a:r>
              <a:rPr lang="en-US" sz="1600" b="1" dirty="0"/>
              <a:t>₹1.69 lakh</a:t>
            </a:r>
            <a:r>
              <a:rPr lang="en-US" sz="1600" dirty="0"/>
              <a:t>, substantially more than chat.</a:t>
            </a:r>
          </a:p>
          <a:p>
            <a:r>
              <a:rPr lang="en-US" sz="1600" dirty="0"/>
              <a:t>The analysis recorded </a:t>
            </a:r>
            <a:r>
              <a:rPr lang="en-US" sz="1600" b="1" dirty="0"/>
              <a:t>8,365 calls</a:t>
            </a:r>
            <a:r>
              <a:rPr lang="en-US" sz="1600" dirty="0"/>
              <a:t> in the </a:t>
            </a:r>
            <a:r>
              <a:rPr lang="en-US" sz="1600" b="1" dirty="0"/>
              <a:t>User ID/Guru ID </a:t>
            </a:r>
            <a:r>
              <a:rPr lang="en-US" sz="1600" dirty="0"/>
              <a:t>analysis.</a:t>
            </a:r>
          </a:p>
          <a:p>
            <a:r>
              <a:rPr lang="en-US" sz="1600" dirty="0"/>
              <a:t>This shows the call channel strategically important for revenue protection and improvement.</a:t>
            </a:r>
          </a:p>
          <a:p>
            <a:r>
              <a:rPr lang="en-US" b="1" u="sng" dirty="0"/>
              <a:t>Key takeaway:</a:t>
            </a:r>
          </a:p>
          <a:p>
            <a:r>
              <a:rPr lang="en-US" sz="1600" b="1" dirty="0"/>
              <a:t>Calls</a:t>
            </a:r>
            <a:r>
              <a:rPr lang="en-US" sz="1600" dirty="0"/>
              <a:t> contribute the majority of revenue, making call-service reliability and performance a key business priority.</a:t>
            </a:r>
          </a:p>
        </p:txBody>
      </p:sp>
      <p:pic>
        <p:nvPicPr>
          <p:cNvPr id="4" name="Picture 3">
            <a:extLst>
              <a:ext uri="{FF2B5EF4-FFF2-40B4-BE49-F238E27FC236}">
                <a16:creationId xmlns:a16="http://schemas.microsoft.com/office/drawing/2014/main" id="{9C56E170-667E-AD54-D4B9-5823D7334A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018" y="477671"/>
            <a:ext cx="1387871" cy="1377029"/>
          </a:xfrm>
          <a:prstGeom prst="rect">
            <a:avLst/>
          </a:prstGeom>
        </p:spPr>
      </p:pic>
      <p:pic>
        <p:nvPicPr>
          <p:cNvPr id="6" name="Picture 5">
            <a:extLst>
              <a:ext uri="{FF2B5EF4-FFF2-40B4-BE49-F238E27FC236}">
                <a16:creationId xmlns:a16="http://schemas.microsoft.com/office/drawing/2014/main" id="{A541B014-0F43-54FA-40ED-3891839CFA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843786"/>
            <a:ext cx="6095999" cy="3521123"/>
          </a:xfrm>
          <a:prstGeom prst="rect">
            <a:avLst/>
          </a:prstGeom>
        </p:spPr>
      </p:pic>
    </p:spTree>
    <p:extLst>
      <p:ext uri="{BB962C8B-B14F-4D97-AF65-F5344CB8AC3E}">
        <p14:creationId xmlns:p14="http://schemas.microsoft.com/office/powerpoint/2010/main" val="326725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DDB65-C9D4-8FD7-CB69-DE096D4D5F94}"/>
              </a:ext>
            </a:extLst>
          </p:cNvPr>
          <p:cNvSpPr>
            <a:spLocks noGrp="1"/>
          </p:cNvSpPr>
          <p:nvPr>
            <p:ph type="title"/>
          </p:nvPr>
        </p:nvSpPr>
        <p:spPr>
          <a:xfrm>
            <a:off x="1715293" y="1042252"/>
            <a:ext cx="8761413" cy="706964"/>
          </a:xfrm>
        </p:spPr>
        <p:txBody>
          <a:bodyPr/>
          <a:lstStyle/>
          <a:p>
            <a:pPr algn="ctr"/>
            <a:r>
              <a:rPr lang="en-US" dirty="0">
                <a:latin typeface="Cooper Black" panose="0208090404030B020404" pitchFamily="18" charset="0"/>
              </a:rPr>
              <a:t>Agent Performance &amp; Customer Satisfaction</a:t>
            </a:r>
          </a:p>
        </p:txBody>
      </p:sp>
      <p:sp>
        <p:nvSpPr>
          <p:cNvPr id="3" name="Content Placeholder 2">
            <a:extLst>
              <a:ext uri="{FF2B5EF4-FFF2-40B4-BE49-F238E27FC236}">
                <a16:creationId xmlns:a16="http://schemas.microsoft.com/office/drawing/2014/main" id="{FC77883E-9C86-0294-6DDE-F0BA2FC1F0E0}"/>
              </a:ext>
            </a:extLst>
          </p:cNvPr>
          <p:cNvSpPr>
            <a:spLocks noGrp="1"/>
          </p:cNvSpPr>
          <p:nvPr>
            <p:ph idx="1"/>
          </p:nvPr>
        </p:nvSpPr>
        <p:spPr>
          <a:xfrm>
            <a:off x="-5106" y="2350697"/>
            <a:ext cx="6583327" cy="4507303"/>
          </a:xfrm>
        </p:spPr>
        <p:txBody>
          <a:bodyPr>
            <a:normAutofit lnSpcReduction="10000"/>
          </a:bodyPr>
          <a:lstStyle/>
          <a:p>
            <a:r>
              <a:rPr lang="en-US" b="1" u="sng" dirty="0"/>
              <a:t>Insights And Key Findings:</a:t>
            </a:r>
          </a:p>
          <a:p>
            <a:r>
              <a:rPr lang="en-US" sz="1600" dirty="0"/>
              <a:t>Average calls handled per agent per day: </a:t>
            </a:r>
            <a:r>
              <a:rPr lang="en-US" sz="1600" b="1" dirty="0"/>
              <a:t>1.88</a:t>
            </a:r>
            <a:r>
              <a:rPr lang="en-US" sz="1600" dirty="0"/>
              <a:t>.</a:t>
            </a:r>
          </a:p>
          <a:p>
            <a:r>
              <a:rPr lang="en-US" sz="1600" b="1" dirty="0"/>
              <a:t>1,275 repeat callers</a:t>
            </a:r>
            <a:r>
              <a:rPr lang="en-US" sz="1600" dirty="0"/>
              <a:t> were identified, representing </a:t>
            </a:r>
            <a:r>
              <a:rPr lang="en-US" sz="1600" b="1" dirty="0"/>
              <a:t>35.19%</a:t>
            </a:r>
            <a:r>
              <a:rPr lang="en-US" sz="1600" dirty="0"/>
              <a:t> in the submitted analysis.</a:t>
            </a:r>
          </a:p>
          <a:p>
            <a:r>
              <a:rPr lang="en-US" sz="1600" dirty="0"/>
              <a:t>Call duration and customer satisfaction show almost</a:t>
            </a:r>
            <a:r>
              <a:rPr lang="en-US" sz="1600" b="1" dirty="0"/>
              <a:t> no correlation (0.0548)</a:t>
            </a:r>
            <a:r>
              <a:rPr lang="en-US" sz="1600" dirty="0"/>
              <a:t>.</a:t>
            </a:r>
          </a:p>
          <a:p>
            <a:r>
              <a:rPr lang="en-US" sz="1600" dirty="0"/>
              <a:t>Highest Guru satisfaction score: </a:t>
            </a:r>
            <a:r>
              <a:rPr lang="en-US" sz="1600" b="1" dirty="0"/>
              <a:t>7.5</a:t>
            </a:r>
            <a:r>
              <a:rPr lang="en-US" sz="1600" dirty="0"/>
              <a:t>.</a:t>
            </a:r>
          </a:p>
          <a:p>
            <a:r>
              <a:rPr lang="en-US" sz="1600" dirty="0"/>
              <a:t>Lowest Guru satisfaction score: </a:t>
            </a:r>
            <a:r>
              <a:rPr lang="en-US" sz="1600" b="1" dirty="0"/>
              <a:t>0</a:t>
            </a:r>
            <a:r>
              <a:rPr lang="en-US" sz="1600" dirty="0"/>
              <a:t>.</a:t>
            </a:r>
          </a:p>
          <a:p>
            <a:r>
              <a:rPr lang="en-US" sz="1600" dirty="0"/>
              <a:t>December's average rating </a:t>
            </a:r>
            <a:r>
              <a:rPr lang="en-US" sz="1600" b="1" dirty="0"/>
              <a:t>(2.94) </a:t>
            </a:r>
            <a:r>
              <a:rPr lang="en-US" sz="1600" dirty="0"/>
              <a:t>was higher than January </a:t>
            </a:r>
            <a:r>
              <a:rPr lang="en-US" sz="1600" b="1" dirty="0"/>
              <a:t>(2.67).</a:t>
            </a:r>
          </a:p>
          <a:p>
            <a:r>
              <a:rPr lang="en-US" b="1" u="sng" dirty="0"/>
              <a:t>Key takeaway:</a:t>
            </a:r>
          </a:p>
          <a:p>
            <a:r>
              <a:rPr lang="en-US" sz="1600" dirty="0"/>
              <a:t>Customer satisfaction cannot be improved simply by increasing call duration; service quality, successful resolution and customer experience are more important areas to address.</a:t>
            </a:r>
            <a:endParaRPr lang="en-US" sz="1600" b="1" u="sng" dirty="0"/>
          </a:p>
          <a:p>
            <a:endParaRPr lang="en-US" sz="1600" dirty="0"/>
          </a:p>
        </p:txBody>
      </p:sp>
      <p:pic>
        <p:nvPicPr>
          <p:cNvPr id="4" name="Picture 3">
            <a:extLst>
              <a:ext uri="{FF2B5EF4-FFF2-40B4-BE49-F238E27FC236}">
                <a16:creationId xmlns:a16="http://schemas.microsoft.com/office/drawing/2014/main" id="{84FEA5A6-D9E0-42EC-0E60-A515E1D5C3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018" y="477671"/>
            <a:ext cx="1387871" cy="1377029"/>
          </a:xfrm>
          <a:prstGeom prst="rect">
            <a:avLst/>
          </a:prstGeom>
        </p:spPr>
      </p:pic>
      <p:pic>
        <p:nvPicPr>
          <p:cNvPr id="11" name="Picture 10">
            <a:extLst>
              <a:ext uri="{FF2B5EF4-FFF2-40B4-BE49-F238E27FC236}">
                <a16:creationId xmlns:a16="http://schemas.microsoft.com/office/drawing/2014/main" id="{8EA2C917-F235-0B3F-9D73-11773AB7ED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8472" y="3665173"/>
            <a:ext cx="5313528" cy="1878350"/>
          </a:xfrm>
          <a:prstGeom prst="rect">
            <a:avLst/>
          </a:prstGeom>
        </p:spPr>
      </p:pic>
    </p:spTree>
    <p:extLst>
      <p:ext uri="{BB962C8B-B14F-4D97-AF65-F5344CB8AC3E}">
        <p14:creationId xmlns:p14="http://schemas.microsoft.com/office/powerpoint/2010/main" val="3309159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A31EA-3F3B-34CD-66DB-E65E033FE9CD}"/>
              </a:ext>
            </a:extLst>
          </p:cNvPr>
          <p:cNvSpPr>
            <a:spLocks noGrp="1"/>
          </p:cNvSpPr>
          <p:nvPr>
            <p:ph type="title"/>
          </p:nvPr>
        </p:nvSpPr>
        <p:spPr>
          <a:xfrm>
            <a:off x="1715293" y="1042252"/>
            <a:ext cx="8761413" cy="706964"/>
          </a:xfrm>
        </p:spPr>
        <p:txBody>
          <a:bodyPr/>
          <a:lstStyle/>
          <a:p>
            <a:pPr algn="ctr"/>
            <a:r>
              <a:rPr lang="en-US" dirty="0">
                <a:latin typeface="Cooper Black" panose="0208090404030B020404" pitchFamily="18" charset="0"/>
              </a:rPr>
              <a:t>Investment Priority</a:t>
            </a:r>
          </a:p>
        </p:txBody>
      </p:sp>
      <p:sp>
        <p:nvSpPr>
          <p:cNvPr id="3" name="Content Placeholder 2">
            <a:extLst>
              <a:ext uri="{FF2B5EF4-FFF2-40B4-BE49-F238E27FC236}">
                <a16:creationId xmlns:a16="http://schemas.microsoft.com/office/drawing/2014/main" id="{FEE50526-F6B1-2CE8-03CD-7F9BD8F5ABED}"/>
              </a:ext>
            </a:extLst>
          </p:cNvPr>
          <p:cNvSpPr>
            <a:spLocks noGrp="1"/>
          </p:cNvSpPr>
          <p:nvPr>
            <p:ph idx="1"/>
          </p:nvPr>
        </p:nvSpPr>
        <p:spPr>
          <a:xfrm>
            <a:off x="0" y="2350696"/>
            <a:ext cx="5991367" cy="4507303"/>
          </a:xfrm>
        </p:spPr>
        <p:txBody>
          <a:bodyPr/>
          <a:lstStyle/>
          <a:p>
            <a:r>
              <a:rPr lang="en-US" b="1" u="sng" dirty="0"/>
              <a:t>Insights And Key Findings:</a:t>
            </a:r>
          </a:p>
          <a:p>
            <a:r>
              <a:rPr lang="en-US" sz="1600" dirty="0"/>
              <a:t>Low average customer satisfaction (</a:t>
            </a:r>
            <a:r>
              <a:rPr lang="en-US" sz="1600" b="1" dirty="0"/>
              <a:t>2.93</a:t>
            </a:r>
            <a:r>
              <a:rPr lang="en-US" sz="1600" dirty="0"/>
              <a:t>) indicates a significant service-quality issue.</a:t>
            </a:r>
          </a:p>
          <a:p>
            <a:r>
              <a:rPr lang="en-US" sz="1600" dirty="0"/>
              <a:t>High failed and incomplete interactions indicate process inefficiency.</a:t>
            </a:r>
          </a:p>
          <a:p>
            <a:r>
              <a:rPr lang="en-US" sz="1600" dirty="0"/>
              <a:t>Short average call duration suggests an opportunity to improve customer engagement.</a:t>
            </a:r>
          </a:p>
          <a:p>
            <a:r>
              <a:rPr lang="en-US" sz="1600" b="1" dirty="0"/>
              <a:t>Technology upgrades </a:t>
            </a:r>
            <a:r>
              <a:rPr lang="en-US" sz="1600" dirty="0"/>
              <a:t>should receive the largest investment because they can address systemic service issues at scale.</a:t>
            </a:r>
          </a:p>
          <a:p>
            <a:r>
              <a:rPr lang="en-US" sz="1600" b="1" dirty="0"/>
              <a:t>Training</a:t>
            </a:r>
            <a:r>
              <a:rPr lang="en-US" sz="1600" dirty="0"/>
              <a:t> should improve communication, customer handling and technology adoption.</a:t>
            </a:r>
          </a:p>
          <a:p>
            <a:r>
              <a:rPr lang="en-US" sz="1600" b="1" dirty="0"/>
              <a:t>Hiring</a:t>
            </a:r>
            <a:r>
              <a:rPr lang="en-US" sz="1600" dirty="0"/>
              <a:t> should be targeted to peak-demand periods, rather than broad hiring.</a:t>
            </a:r>
          </a:p>
          <a:p>
            <a:pPr marL="0" indent="0">
              <a:buNone/>
            </a:pPr>
            <a:endParaRPr lang="en-US" sz="1600" dirty="0"/>
          </a:p>
          <a:p>
            <a:endParaRPr lang="en-US" sz="1600" dirty="0"/>
          </a:p>
        </p:txBody>
      </p:sp>
      <p:pic>
        <p:nvPicPr>
          <p:cNvPr id="4" name="Picture 3">
            <a:extLst>
              <a:ext uri="{FF2B5EF4-FFF2-40B4-BE49-F238E27FC236}">
                <a16:creationId xmlns:a16="http://schemas.microsoft.com/office/drawing/2014/main" id="{316D302F-1A08-5D66-B1FD-AE4D38E0EF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018" y="477671"/>
            <a:ext cx="1387871" cy="1377029"/>
          </a:xfrm>
          <a:prstGeom prst="rect">
            <a:avLst/>
          </a:prstGeom>
        </p:spPr>
      </p:pic>
      <p:pic>
        <p:nvPicPr>
          <p:cNvPr id="7" name="Picture 6">
            <a:extLst>
              <a:ext uri="{FF2B5EF4-FFF2-40B4-BE49-F238E27FC236}">
                <a16:creationId xmlns:a16="http://schemas.microsoft.com/office/drawing/2014/main" id="{26916A54-6C90-C2A1-FC82-CBB238F04B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6710" y="3082621"/>
            <a:ext cx="5245290" cy="3043451"/>
          </a:xfrm>
          <a:prstGeom prst="rect">
            <a:avLst/>
          </a:prstGeom>
        </p:spPr>
      </p:pic>
    </p:spTree>
    <p:extLst>
      <p:ext uri="{BB962C8B-B14F-4D97-AF65-F5344CB8AC3E}">
        <p14:creationId xmlns:p14="http://schemas.microsoft.com/office/powerpoint/2010/main" val="2500309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423C0D-BF05-7571-AAE2-618A5343FF6C}"/>
              </a:ext>
            </a:extLst>
          </p:cNvPr>
          <p:cNvSpPr>
            <a:spLocks noGrp="1"/>
          </p:cNvSpPr>
          <p:nvPr>
            <p:ph idx="1"/>
          </p:nvPr>
        </p:nvSpPr>
        <p:spPr>
          <a:xfrm>
            <a:off x="0" y="2603500"/>
            <a:ext cx="5950424" cy="3416300"/>
          </a:xfrm>
        </p:spPr>
        <p:txBody>
          <a:bodyPr>
            <a:normAutofit lnSpcReduction="10000"/>
          </a:bodyPr>
          <a:lstStyle/>
          <a:p>
            <a:r>
              <a:rPr lang="en-US" b="1" u="sng" dirty="0"/>
              <a:t>Area Of Investment:</a:t>
            </a:r>
          </a:p>
          <a:p>
            <a:r>
              <a:rPr lang="en-US" sz="1600" b="1" dirty="0"/>
              <a:t>Training: </a:t>
            </a:r>
            <a:r>
              <a:rPr lang="en-US" sz="1600" dirty="0"/>
              <a:t>₹50 lakh (50%) </a:t>
            </a:r>
          </a:p>
          <a:p>
            <a:r>
              <a:rPr lang="en-US" sz="1600" b="1" dirty="0"/>
              <a:t>Technology: </a:t>
            </a:r>
            <a:r>
              <a:rPr lang="en-US" sz="1600" dirty="0"/>
              <a:t>₹30 lakh (30%)</a:t>
            </a:r>
          </a:p>
          <a:p>
            <a:r>
              <a:rPr lang="en-US" sz="1600" b="1" dirty="0"/>
              <a:t>Hiring: </a:t>
            </a:r>
            <a:r>
              <a:rPr lang="en-US" sz="1600" dirty="0"/>
              <a:t>₹20 lakh (20%)</a:t>
            </a:r>
            <a:endParaRPr lang="en-US" sz="1600" b="1" dirty="0"/>
          </a:p>
          <a:p>
            <a:r>
              <a:rPr lang="en-US" b="1" u="sng" dirty="0"/>
              <a:t>Key takeaway:</a:t>
            </a:r>
          </a:p>
          <a:p>
            <a:r>
              <a:rPr lang="en-US" sz="1600" dirty="0"/>
              <a:t>The data suggests that the main challenge is not simply a shortage of agents. Low customer satisfaction and service-quality gaps indicate that improving agent skills and customer handling should be the highest priority, supported by targeted technology upgrades and hiring where workload data shows a genuine need.</a:t>
            </a:r>
          </a:p>
        </p:txBody>
      </p:sp>
      <p:pic>
        <p:nvPicPr>
          <p:cNvPr id="8" name="Picture 7">
            <a:extLst>
              <a:ext uri="{FF2B5EF4-FFF2-40B4-BE49-F238E27FC236}">
                <a16:creationId xmlns:a16="http://schemas.microsoft.com/office/drawing/2014/main" id="{D10E82A3-F275-18A4-36DC-92E8FDD817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018" y="477671"/>
            <a:ext cx="1387871" cy="1377029"/>
          </a:xfrm>
          <a:prstGeom prst="rect">
            <a:avLst/>
          </a:prstGeom>
        </p:spPr>
      </p:pic>
      <p:pic>
        <p:nvPicPr>
          <p:cNvPr id="11" name="Picture 10">
            <a:extLst>
              <a:ext uri="{FF2B5EF4-FFF2-40B4-BE49-F238E27FC236}">
                <a16:creationId xmlns:a16="http://schemas.microsoft.com/office/drawing/2014/main" id="{8F316BC8-53D0-E713-29C5-0489D7B2BE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0424" y="3345146"/>
            <a:ext cx="6241576" cy="1933007"/>
          </a:xfrm>
          <a:prstGeom prst="rect">
            <a:avLst/>
          </a:prstGeom>
        </p:spPr>
      </p:pic>
    </p:spTree>
    <p:extLst>
      <p:ext uri="{BB962C8B-B14F-4D97-AF65-F5344CB8AC3E}">
        <p14:creationId xmlns:p14="http://schemas.microsoft.com/office/powerpoint/2010/main" val="2615495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E054C-514E-CF40-D1D2-D224F8D5A343}"/>
              </a:ext>
            </a:extLst>
          </p:cNvPr>
          <p:cNvSpPr>
            <a:spLocks noGrp="1"/>
          </p:cNvSpPr>
          <p:nvPr>
            <p:ph type="title"/>
          </p:nvPr>
        </p:nvSpPr>
        <p:spPr>
          <a:xfrm>
            <a:off x="1715293" y="1038748"/>
            <a:ext cx="8761413" cy="706964"/>
          </a:xfrm>
        </p:spPr>
        <p:txBody>
          <a:bodyPr/>
          <a:lstStyle/>
          <a:p>
            <a:pPr algn="ctr"/>
            <a:r>
              <a:rPr lang="en-US" dirty="0">
                <a:latin typeface="Cooper Black" panose="0208090404030B020404" pitchFamily="18" charset="0"/>
              </a:rPr>
              <a:t>Investment Risks &amp; Mitigation Strategy</a:t>
            </a:r>
          </a:p>
        </p:txBody>
      </p:sp>
      <p:sp>
        <p:nvSpPr>
          <p:cNvPr id="3" name="Content Placeholder 2">
            <a:extLst>
              <a:ext uri="{FF2B5EF4-FFF2-40B4-BE49-F238E27FC236}">
                <a16:creationId xmlns:a16="http://schemas.microsoft.com/office/drawing/2014/main" id="{BA6B9263-D289-2288-634B-0A249664BF7C}"/>
              </a:ext>
            </a:extLst>
          </p:cNvPr>
          <p:cNvSpPr>
            <a:spLocks noGrp="1"/>
          </p:cNvSpPr>
          <p:nvPr>
            <p:ph idx="1"/>
          </p:nvPr>
        </p:nvSpPr>
        <p:spPr>
          <a:xfrm>
            <a:off x="1" y="2468032"/>
            <a:ext cx="6450842" cy="4389968"/>
          </a:xfrm>
        </p:spPr>
        <p:txBody>
          <a:bodyPr>
            <a:normAutofit lnSpcReduction="10000"/>
          </a:bodyPr>
          <a:lstStyle/>
          <a:p>
            <a:r>
              <a:rPr lang="en-US" b="1" u="sng" dirty="0"/>
              <a:t>Insights And Key Findings:</a:t>
            </a:r>
          </a:p>
          <a:p>
            <a:r>
              <a:rPr lang="en-US" sz="1600" b="1" dirty="0"/>
              <a:t>Technology:</a:t>
            </a:r>
            <a:r>
              <a:rPr lang="en-US" sz="1600" dirty="0"/>
              <a:t> Implement upgrades gradually instead of changing the entire system at once.</a:t>
            </a:r>
          </a:p>
          <a:p>
            <a:r>
              <a:rPr lang="en-US" sz="1600" b="1" dirty="0"/>
              <a:t>Training:</a:t>
            </a:r>
            <a:r>
              <a:rPr lang="en-US" sz="1600" dirty="0"/>
              <a:t> Measure whether training improves customer handling and service quality.</a:t>
            </a:r>
          </a:p>
          <a:p>
            <a:r>
              <a:rPr lang="en-US" sz="1600" b="1" dirty="0"/>
              <a:t>Hiring:</a:t>
            </a:r>
            <a:r>
              <a:rPr lang="en-US" sz="1600" dirty="0"/>
              <a:t> Use workload and demand data to determine where additional agents are actually needed.</a:t>
            </a:r>
          </a:p>
          <a:p>
            <a:r>
              <a:rPr lang="en-US" sz="1600" dirty="0"/>
              <a:t>The project recommends </a:t>
            </a:r>
            <a:r>
              <a:rPr lang="en-US" sz="1600" b="1" dirty="0"/>
              <a:t>phased technology implementation</a:t>
            </a:r>
            <a:r>
              <a:rPr lang="en-US" sz="1600" dirty="0"/>
              <a:t>, including IVR, AI-based routing, chatbots and speech analytics, with pilot testing before full deployment.</a:t>
            </a:r>
          </a:p>
          <a:p>
            <a:r>
              <a:rPr lang="en-US" b="1" u="sng" dirty="0"/>
              <a:t>Key takeaway:</a:t>
            </a:r>
          </a:p>
          <a:p>
            <a:r>
              <a:rPr lang="en-US" sz="1600" dirty="0"/>
              <a:t>Each investment option carries a different risk, so the solution is to invest gradually, measure results and scale only what works.</a:t>
            </a:r>
            <a:endParaRPr lang="en-US" sz="1600" b="1" u="sng" dirty="0"/>
          </a:p>
          <a:p>
            <a:endParaRPr lang="en-US" sz="1600" dirty="0"/>
          </a:p>
          <a:p>
            <a:endParaRPr lang="en-US" sz="1600" dirty="0"/>
          </a:p>
        </p:txBody>
      </p:sp>
      <p:pic>
        <p:nvPicPr>
          <p:cNvPr id="4" name="Picture 3">
            <a:extLst>
              <a:ext uri="{FF2B5EF4-FFF2-40B4-BE49-F238E27FC236}">
                <a16:creationId xmlns:a16="http://schemas.microsoft.com/office/drawing/2014/main" id="{BA2AB210-B5B4-7F71-AC9C-3FEE3ABB9F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018" y="477671"/>
            <a:ext cx="1387871" cy="1377029"/>
          </a:xfrm>
          <a:prstGeom prst="rect">
            <a:avLst/>
          </a:prstGeom>
        </p:spPr>
      </p:pic>
      <p:pic>
        <p:nvPicPr>
          <p:cNvPr id="7" name="Picture 6">
            <a:extLst>
              <a:ext uri="{FF2B5EF4-FFF2-40B4-BE49-F238E27FC236}">
                <a16:creationId xmlns:a16="http://schemas.microsoft.com/office/drawing/2014/main" id="{93CB13CE-078C-A07B-3EFD-6676FE9174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9241" y="2947916"/>
            <a:ext cx="5442758" cy="3278375"/>
          </a:xfrm>
          <a:prstGeom prst="rect">
            <a:avLst/>
          </a:prstGeom>
        </p:spPr>
      </p:pic>
    </p:spTree>
    <p:extLst>
      <p:ext uri="{BB962C8B-B14F-4D97-AF65-F5344CB8AC3E}">
        <p14:creationId xmlns:p14="http://schemas.microsoft.com/office/powerpoint/2010/main" val="839397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9B08474-164F-C508-05EA-0A92A00032D0}"/>
              </a:ext>
            </a:extLst>
          </p:cNvPr>
          <p:cNvGraphicFramePr>
            <a:graphicFrameLocks noGrp="1"/>
          </p:cNvGraphicFramePr>
          <p:nvPr>
            <p:ph idx="1"/>
            <p:extLst>
              <p:ext uri="{D42A27DB-BD31-4B8C-83A1-F6EECF244321}">
                <p14:modId xmlns:p14="http://schemas.microsoft.com/office/powerpoint/2010/main" val="195188237"/>
              </p:ext>
            </p:extLst>
          </p:nvPr>
        </p:nvGraphicFramePr>
        <p:xfrm>
          <a:off x="0" y="2324167"/>
          <a:ext cx="5036022" cy="4577398"/>
        </p:xfrm>
        <a:graphic>
          <a:graphicData uri="http://schemas.openxmlformats.org/drawingml/2006/table">
            <a:tbl>
              <a:tblPr/>
              <a:tblGrid>
                <a:gridCol w="1678674">
                  <a:extLst>
                    <a:ext uri="{9D8B030D-6E8A-4147-A177-3AD203B41FA5}">
                      <a16:colId xmlns:a16="http://schemas.microsoft.com/office/drawing/2014/main" val="845726695"/>
                    </a:ext>
                  </a:extLst>
                </a:gridCol>
                <a:gridCol w="1678674">
                  <a:extLst>
                    <a:ext uri="{9D8B030D-6E8A-4147-A177-3AD203B41FA5}">
                      <a16:colId xmlns:a16="http://schemas.microsoft.com/office/drawing/2014/main" val="2546396384"/>
                    </a:ext>
                  </a:extLst>
                </a:gridCol>
                <a:gridCol w="1678674">
                  <a:extLst>
                    <a:ext uri="{9D8B030D-6E8A-4147-A177-3AD203B41FA5}">
                      <a16:colId xmlns:a16="http://schemas.microsoft.com/office/drawing/2014/main" val="2684895621"/>
                    </a:ext>
                  </a:extLst>
                </a:gridCol>
              </a:tblGrid>
              <a:tr h="626843">
                <a:tc>
                  <a:txBody>
                    <a:bodyPr/>
                    <a:lstStyle/>
                    <a:p>
                      <a:r>
                        <a:rPr lang="en-US" sz="2000" b="1" u="sng" dirty="0"/>
                        <a:t>Investment</a:t>
                      </a:r>
                    </a:p>
                  </a:txBody>
                  <a:tcPr anchor="ctr">
                    <a:lnL>
                      <a:noFill/>
                    </a:lnL>
                    <a:lnR>
                      <a:noFill/>
                    </a:lnR>
                    <a:lnT>
                      <a:noFill/>
                    </a:lnT>
                    <a:lnB>
                      <a:noFill/>
                    </a:lnB>
                    <a:noFill/>
                  </a:tcPr>
                </a:tc>
                <a:tc>
                  <a:txBody>
                    <a:bodyPr/>
                    <a:lstStyle/>
                    <a:p>
                      <a:r>
                        <a:rPr lang="en-US" sz="2000" b="1" u="sng" dirty="0"/>
                        <a:t>Main Risk</a:t>
                      </a:r>
                    </a:p>
                  </a:txBody>
                  <a:tcPr anchor="ctr">
                    <a:lnL>
                      <a:noFill/>
                    </a:lnL>
                    <a:lnR>
                      <a:noFill/>
                    </a:lnR>
                    <a:lnT>
                      <a:noFill/>
                    </a:lnT>
                    <a:lnB>
                      <a:noFill/>
                    </a:lnB>
                    <a:noFill/>
                  </a:tcPr>
                </a:tc>
                <a:tc>
                  <a:txBody>
                    <a:bodyPr/>
                    <a:lstStyle/>
                    <a:p>
                      <a:r>
                        <a:rPr lang="en-US" sz="2000" b="1" u="sng" dirty="0"/>
                        <a:t>Mitigation</a:t>
                      </a:r>
                    </a:p>
                  </a:txBody>
                  <a:tcPr anchor="ctr">
                    <a:lnL>
                      <a:noFill/>
                    </a:lnL>
                    <a:lnR>
                      <a:noFill/>
                    </a:lnR>
                    <a:lnT>
                      <a:noFill/>
                    </a:lnT>
                    <a:lnB>
                      <a:noFill/>
                    </a:lnB>
                    <a:noFill/>
                  </a:tcPr>
                </a:tc>
                <a:extLst>
                  <a:ext uri="{0D108BD9-81ED-4DB2-BD59-A6C34878D82A}">
                    <a16:rowId xmlns:a16="http://schemas.microsoft.com/office/drawing/2014/main" val="4188738491"/>
                  </a:ext>
                </a:extLst>
              </a:tr>
              <a:tr h="1024475">
                <a:tc>
                  <a:txBody>
                    <a:bodyPr/>
                    <a:lstStyle/>
                    <a:p>
                      <a:r>
                        <a:rPr lang="en-US" b="1" dirty="0"/>
                        <a:t>Technology</a:t>
                      </a:r>
                      <a:endParaRPr lang="en-US" dirty="0"/>
                    </a:p>
                  </a:txBody>
                  <a:tcPr anchor="ctr">
                    <a:lnL>
                      <a:noFill/>
                    </a:lnL>
                    <a:lnR>
                      <a:noFill/>
                    </a:lnR>
                    <a:lnT>
                      <a:noFill/>
                    </a:lnT>
                    <a:lnB>
                      <a:noFill/>
                    </a:lnB>
                    <a:noFill/>
                  </a:tcPr>
                </a:tc>
                <a:tc>
                  <a:txBody>
                    <a:bodyPr/>
                    <a:lstStyle/>
                    <a:p>
                      <a:r>
                        <a:rPr lang="en-US" dirty="0"/>
                        <a:t>High cost/ implementation failure</a:t>
                      </a:r>
                    </a:p>
                  </a:txBody>
                  <a:tcPr anchor="ctr">
                    <a:lnL>
                      <a:noFill/>
                    </a:lnL>
                    <a:lnR>
                      <a:noFill/>
                    </a:lnR>
                    <a:lnT>
                      <a:noFill/>
                    </a:lnT>
                    <a:lnB>
                      <a:noFill/>
                    </a:lnB>
                    <a:noFill/>
                  </a:tcPr>
                </a:tc>
                <a:tc>
                  <a:txBody>
                    <a:bodyPr/>
                    <a:lstStyle/>
                    <a:p>
                      <a:r>
                        <a:rPr lang="en-US" dirty="0"/>
                        <a:t>Pilot testing + phased rollout</a:t>
                      </a:r>
                    </a:p>
                  </a:txBody>
                  <a:tcPr anchor="ctr">
                    <a:lnL>
                      <a:noFill/>
                    </a:lnL>
                    <a:lnR>
                      <a:noFill/>
                    </a:lnR>
                    <a:lnT>
                      <a:noFill/>
                    </a:lnT>
                    <a:lnB>
                      <a:noFill/>
                    </a:lnB>
                    <a:noFill/>
                  </a:tcPr>
                </a:tc>
                <a:extLst>
                  <a:ext uri="{0D108BD9-81ED-4DB2-BD59-A6C34878D82A}">
                    <a16:rowId xmlns:a16="http://schemas.microsoft.com/office/drawing/2014/main" val="97666460"/>
                  </a:ext>
                </a:extLst>
              </a:tr>
              <a:tr h="1446561">
                <a:tc>
                  <a:txBody>
                    <a:bodyPr/>
                    <a:lstStyle/>
                    <a:p>
                      <a:r>
                        <a:rPr lang="en-US" b="1" dirty="0"/>
                        <a:t>Training</a:t>
                      </a:r>
                      <a:endParaRPr lang="en-US" dirty="0"/>
                    </a:p>
                  </a:txBody>
                  <a:tcPr anchor="ctr">
                    <a:lnL>
                      <a:noFill/>
                    </a:lnL>
                    <a:lnR>
                      <a:noFill/>
                    </a:lnR>
                    <a:lnT>
                      <a:noFill/>
                    </a:lnT>
                    <a:lnB>
                      <a:noFill/>
                    </a:lnB>
                    <a:noFill/>
                  </a:tcPr>
                </a:tc>
                <a:tc>
                  <a:txBody>
                    <a:bodyPr/>
                    <a:lstStyle/>
                    <a:p>
                      <a:r>
                        <a:rPr lang="en-US"/>
                        <a:t>Training may not translate into performance</a:t>
                      </a:r>
                    </a:p>
                  </a:txBody>
                  <a:tcPr anchor="ctr">
                    <a:lnL>
                      <a:noFill/>
                    </a:lnL>
                    <a:lnR>
                      <a:noFill/>
                    </a:lnR>
                    <a:lnT>
                      <a:noFill/>
                    </a:lnT>
                    <a:lnB>
                      <a:noFill/>
                    </a:lnB>
                    <a:noFill/>
                  </a:tcPr>
                </a:tc>
                <a:tc>
                  <a:txBody>
                    <a:bodyPr/>
                    <a:lstStyle/>
                    <a:p>
                      <a:r>
                        <a:rPr lang="en-US" dirty="0"/>
                        <a:t>Measure ratings, completion and agent KPIs</a:t>
                      </a:r>
                    </a:p>
                  </a:txBody>
                  <a:tcPr anchor="ctr">
                    <a:lnL>
                      <a:noFill/>
                    </a:lnL>
                    <a:lnR>
                      <a:noFill/>
                    </a:lnR>
                    <a:lnT>
                      <a:noFill/>
                    </a:lnT>
                    <a:lnB>
                      <a:noFill/>
                    </a:lnB>
                    <a:noFill/>
                  </a:tcPr>
                </a:tc>
                <a:extLst>
                  <a:ext uri="{0D108BD9-81ED-4DB2-BD59-A6C34878D82A}">
                    <a16:rowId xmlns:a16="http://schemas.microsoft.com/office/drawing/2014/main" val="3679743756"/>
                  </a:ext>
                </a:extLst>
              </a:tr>
              <a:tr h="1446561">
                <a:tc>
                  <a:txBody>
                    <a:bodyPr/>
                    <a:lstStyle/>
                    <a:p>
                      <a:r>
                        <a:rPr lang="en-US" b="1"/>
                        <a:t>Hiring</a:t>
                      </a:r>
                      <a:endParaRPr lang="en-US"/>
                    </a:p>
                  </a:txBody>
                  <a:tcPr anchor="ctr">
                    <a:lnL>
                      <a:noFill/>
                    </a:lnL>
                    <a:lnR>
                      <a:noFill/>
                    </a:lnR>
                    <a:lnT>
                      <a:noFill/>
                    </a:lnT>
                    <a:lnB>
                      <a:noFill/>
                    </a:lnB>
                    <a:noFill/>
                  </a:tcPr>
                </a:tc>
                <a:tc>
                  <a:txBody>
                    <a:bodyPr/>
                    <a:lstStyle/>
                    <a:p>
                      <a:r>
                        <a:rPr lang="en-US"/>
                        <a:t>Higher fixed costs without solving service problems</a:t>
                      </a:r>
                    </a:p>
                  </a:txBody>
                  <a:tcPr anchor="ctr">
                    <a:lnL>
                      <a:noFill/>
                    </a:lnL>
                    <a:lnR>
                      <a:noFill/>
                    </a:lnR>
                    <a:lnT>
                      <a:noFill/>
                    </a:lnT>
                    <a:lnB>
                      <a:noFill/>
                    </a:lnB>
                    <a:noFill/>
                  </a:tcPr>
                </a:tc>
                <a:tc>
                  <a:txBody>
                    <a:bodyPr/>
                    <a:lstStyle/>
                    <a:p>
                      <a:r>
                        <a:rPr lang="en-US" dirty="0"/>
                        <a:t>Hire only where workload data supports it</a:t>
                      </a:r>
                    </a:p>
                  </a:txBody>
                  <a:tcPr anchor="ctr">
                    <a:lnL>
                      <a:noFill/>
                    </a:lnL>
                    <a:lnR>
                      <a:noFill/>
                    </a:lnR>
                    <a:lnT>
                      <a:noFill/>
                    </a:lnT>
                    <a:lnB>
                      <a:noFill/>
                    </a:lnB>
                    <a:noFill/>
                  </a:tcPr>
                </a:tc>
                <a:extLst>
                  <a:ext uri="{0D108BD9-81ED-4DB2-BD59-A6C34878D82A}">
                    <a16:rowId xmlns:a16="http://schemas.microsoft.com/office/drawing/2014/main" val="4278163747"/>
                  </a:ext>
                </a:extLst>
              </a:tr>
            </a:tbl>
          </a:graphicData>
        </a:graphic>
      </p:graphicFrame>
      <p:pic>
        <p:nvPicPr>
          <p:cNvPr id="13" name="Picture 12">
            <a:extLst>
              <a:ext uri="{FF2B5EF4-FFF2-40B4-BE49-F238E27FC236}">
                <a16:creationId xmlns:a16="http://schemas.microsoft.com/office/drawing/2014/main" id="{F0809122-BD7B-8D97-C186-3AF4E4806B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018" y="477671"/>
            <a:ext cx="1387871" cy="1377029"/>
          </a:xfrm>
          <a:prstGeom prst="rect">
            <a:avLst/>
          </a:prstGeom>
        </p:spPr>
      </p:pic>
      <p:pic>
        <p:nvPicPr>
          <p:cNvPr id="3" name="Picture 2">
            <a:extLst>
              <a:ext uri="{FF2B5EF4-FFF2-40B4-BE49-F238E27FC236}">
                <a16:creationId xmlns:a16="http://schemas.microsoft.com/office/drawing/2014/main" id="{DE879963-9D89-5751-26C3-EC06543C43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8096" y="2934191"/>
            <a:ext cx="5763904" cy="3357349"/>
          </a:xfrm>
          <a:prstGeom prst="rect">
            <a:avLst/>
          </a:prstGeom>
        </p:spPr>
      </p:pic>
    </p:spTree>
    <p:extLst>
      <p:ext uri="{BB962C8B-B14F-4D97-AF65-F5344CB8AC3E}">
        <p14:creationId xmlns:p14="http://schemas.microsoft.com/office/powerpoint/2010/main" val="2785666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6CFEB-EA74-7CEE-F76F-D679F20BA820}"/>
              </a:ext>
            </a:extLst>
          </p:cNvPr>
          <p:cNvSpPr>
            <a:spLocks noGrp="1"/>
          </p:cNvSpPr>
          <p:nvPr>
            <p:ph type="title"/>
          </p:nvPr>
        </p:nvSpPr>
        <p:spPr>
          <a:xfrm>
            <a:off x="1715293" y="1042252"/>
            <a:ext cx="8761413" cy="706964"/>
          </a:xfrm>
        </p:spPr>
        <p:txBody>
          <a:bodyPr/>
          <a:lstStyle/>
          <a:p>
            <a:pPr algn="ctr"/>
            <a:r>
              <a:rPr lang="en-US" dirty="0">
                <a:latin typeface="Cooper Black" panose="0208090404030B020404" pitchFamily="18" charset="0"/>
              </a:rPr>
              <a:t>From Operational Gaps to a Technology Roadmap</a:t>
            </a:r>
          </a:p>
        </p:txBody>
      </p:sp>
      <p:sp>
        <p:nvSpPr>
          <p:cNvPr id="3" name="Content Placeholder 2">
            <a:extLst>
              <a:ext uri="{FF2B5EF4-FFF2-40B4-BE49-F238E27FC236}">
                <a16:creationId xmlns:a16="http://schemas.microsoft.com/office/drawing/2014/main" id="{1A6ECFFF-FCD9-DBAA-0ED2-061C10BF20C2}"/>
              </a:ext>
            </a:extLst>
          </p:cNvPr>
          <p:cNvSpPr>
            <a:spLocks noGrp="1"/>
          </p:cNvSpPr>
          <p:nvPr>
            <p:ph idx="1"/>
          </p:nvPr>
        </p:nvSpPr>
        <p:spPr>
          <a:xfrm>
            <a:off x="0" y="2350696"/>
            <a:ext cx="10890913" cy="4507303"/>
          </a:xfrm>
        </p:spPr>
        <p:txBody>
          <a:bodyPr>
            <a:normAutofit fontScale="92500" lnSpcReduction="20000"/>
          </a:bodyPr>
          <a:lstStyle/>
          <a:p>
            <a:r>
              <a:rPr lang="en-US" sz="1900" b="1" u="sng" dirty="0"/>
              <a:t>Insights And Key Findings:</a:t>
            </a:r>
            <a:endParaRPr lang="en-US" sz="1900" b="1" dirty="0"/>
          </a:p>
          <a:p>
            <a:r>
              <a:rPr lang="en-US" b="1" dirty="0"/>
              <a:t>Phase 1: Improve Core Operations</a:t>
            </a:r>
          </a:p>
          <a:p>
            <a:r>
              <a:rPr lang="en-US" sz="1600" dirty="0"/>
              <a:t>Routing + IVR + Workforce Management</a:t>
            </a:r>
          </a:p>
          <a:p>
            <a:r>
              <a:rPr lang="en-US" sz="1600" dirty="0"/>
              <a:t>This reduces failed calls and match staffing with demand.</a:t>
            </a:r>
          </a:p>
          <a:p>
            <a:r>
              <a:rPr lang="en-US" b="1" dirty="0"/>
              <a:t>Phase 2: Reduce Repetitive Work</a:t>
            </a:r>
          </a:p>
          <a:p>
            <a:r>
              <a:rPr lang="en-US" sz="1600" dirty="0"/>
              <a:t>CRM + Chatbots + Agent Assist</a:t>
            </a:r>
          </a:p>
          <a:p>
            <a:r>
              <a:rPr lang="en-US" sz="1600" dirty="0"/>
              <a:t>This reduce repetitive workload and give agents better customer context.</a:t>
            </a:r>
          </a:p>
          <a:p>
            <a:r>
              <a:rPr lang="en-US" b="1" dirty="0"/>
              <a:t>Phase 3: Improve Quality &amp; Decision-Making</a:t>
            </a:r>
          </a:p>
          <a:p>
            <a:r>
              <a:rPr lang="en-US" sz="1600" dirty="0"/>
              <a:t>Sentiment Analysis + Quality Assurance + Real-Time Business Intelligence</a:t>
            </a:r>
          </a:p>
          <a:p>
            <a:r>
              <a:rPr lang="en-US" sz="1600" dirty="0"/>
              <a:t>This helps in improving coaching, service quality and investment decisions.</a:t>
            </a:r>
          </a:p>
          <a:p>
            <a:r>
              <a:rPr lang="en-US" b="1" u="sng" dirty="0"/>
              <a:t>Key takeaway:</a:t>
            </a:r>
          </a:p>
          <a:p>
            <a:r>
              <a:rPr lang="en-US" sz="1600" dirty="0"/>
              <a:t>The recommended approach is not a single technology upgrade. It is a phased transformation that first fixes service efficiency, then reduces repetitive workload, and finally improves quality monitoring and decision-making.</a:t>
            </a:r>
            <a:endParaRPr lang="en-US" sz="1600" b="1" u="sng" dirty="0"/>
          </a:p>
          <a:p>
            <a:endParaRPr lang="en-US" sz="1600" b="1" dirty="0"/>
          </a:p>
        </p:txBody>
      </p:sp>
      <p:pic>
        <p:nvPicPr>
          <p:cNvPr id="4" name="Picture 3">
            <a:extLst>
              <a:ext uri="{FF2B5EF4-FFF2-40B4-BE49-F238E27FC236}">
                <a16:creationId xmlns:a16="http://schemas.microsoft.com/office/drawing/2014/main" id="{C3273FB9-E864-0F71-50B2-B604DBBED7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018" y="477671"/>
            <a:ext cx="1387871" cy="1377029"/>
          </a:xfrm>
          <a:prstGeom prst="rect">
            <a:avLst/>
          </a:prstGeom>
        </p:spPr>
      </p:pic>
    </p:spTree>
    <p:extLst>
      <p:ext uri="{BB962C8B-B14F-4D97-AF65-F5344CB8AC3E}">
        <p14:creationId xmlns:p14="http://schemas.microsoft.com/office/powerpoint/2010/main" val="2079018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BA71F-B8BB-C76B-C077-E2467879D7D5}"/>
              </a:ext>
            </a:extLst>
          </p:cNvPr>
          <p:cNvSpPr>
            <a:spLocks noGrp="1"/>
          </p:cNvSpPr>
          <p:nvPr>
            <p:ph type="title"/>
          </p:nvPr>
        </p:nvSpPr>
        <p:spPr>
          <a:xfrm>
            <a:off x="1715293" y="946372"/>
            <a:ext cx="8761413" cy="706964"/>
          </a:xfrm>
        </p:spPr>
        <p:txBody>
          <a:bodyPr/>
          <a:lstStyle/>
          <a:p>
            <a:pPr algn="ctr"/>
            <a:r>
              <a:rPr lang="en-US" dirty="0">
                <a:latin typeface="Cooper Black" panose="0208090404030B020404" pitchFamily="18" charset="0"/>
              </a:rPr>
              <a:t>Strategic Recommendation 1: Improve Service Efficiency</a:t>
            </a:r>
          </a:p>
        </p:txBody>
      </p:sp>
      <p:sp>
        <p:nvSpPr>
          <p:cNvPr id="3" name="Content Placeholder 2">
            <a:extLst>
              <a:ext uri="{FF2B5EF4-FFF2-40B4-BE49-F238E27FC236}">
                <a16:creationId xmlns:a16="http://schemas.microsoft.com/office/drawing/2014/main" id="{48A52EC1-70FB-A90D-B5C7-409627F41602}"/>
              </a:ext>
            </a:extLst>
          </p:cNvPr>
          <p:cNvSpPr>
            <a:spLocks noGrp="1"/>
          </p:cNvSpPr>
          <p:nvPr>
            <p:ph idx="1"/>
          </p:nvPr>
        </p:nvSpPr>
        <p:spPr>
          <a:xfrm>
            <a:off x="-9098" y="2350696"/>
            <a:ext cx="7283356" cy="4507303"/>
          </a:xfrm>
        </p:spPr>
        <p:txBody>
          <a:bodyPr>
            <a:normAutofit fontScale="92500" lnSpcReduction="10000"/>
          </a:bodyPr>
          <a:lstStyle/>
          <a:p>
            <a:r>
              <a:rPr lang="en-US" b="1" u="sng" dirty="0"/>
              <a:t>Invest in technology to improve call and chat handling efficiency</a:t>
            </a:r>
          </a:p>
          <a:p>
            <a:r>
              <a:rPr lang="en-US" b="1" dirty="0"/>
              <a:t>Data-Driven Reason</a:t>
            </a:r>
          </a:p>
          <a:p>
            <a:r>
              <a:rPr lang="en-US" sz="1600" dirty="0"/>
              <a:t>Call and chat completion rates indicate significant room for improvement.</a:t>
            </a:r>
          </a:p>
          <a:p>
            <a:r>
              <a:rPr lang="en-US" sz="1600" b="1" dirty="0"/>
              <a:t>28,027 </a:t>
            </a:r>
            <a:r>
              <a:rPr lang="en-US" sz="1600" dirty="0"/>
              <a:t>total interactions show a substantial customer-service workload.</a:t>
            </a:r>
          </a:p>
          <a:p>
            <a:r>
              <a:rPr lang="en-US" sz="1600" dirty="0"/>
              <a:t>Peak-hour demand creates pressure on available agents.</a:t>
            </a:r>
          </a:p>
          <a:p>
            <a:r>
              <a:rPr lang="en-US" sz="1600" dirty="0"/>
              <a:t>Technology such as </a:t>
            </a:r>
            <a:r>
              <a:rPr lang="en-US" sz="1600" b="1" dirty="0"/>
              <a:t>smart call routing, IVR, chatbots and agent-assist tools</a:t>
            </a:r>
            <a:r>
              <a:rPr lang="en-US" sz="1600" dirty="0"/>
              <a:t> can reduce waiting time and improve successful interactions.</a:t>
            </a:r>
          </a:p>
          <a:p>
            <a:r>
              <a:rPr lang="en-US" b="1" dirty="0"/>
              <a:t>Expected Impact</a:t>
            </a:r>
          </a:p>
          <a:p>
            <a:r>
              <a:rPr lang="en-US" sz="1600" dirty="0"/>
              <a:t>Higher </a:t>
            </a:r>
            <a:r>
              <a:rPr lang="en-US" sz="1600" b="1" dirty="0"/>
              <a:t>call/chat </a:t>
            </a:r>
            <a:r>
              <a:rPr lang="en-US" sz="1600" dirty="0"/>
              <a:t>completion rates.</a:t>
            </a:r>
          </a:p>
          <a:p>
            <a:r>
              <a:rPr lang="en-US" sz="1600" dirty="0"/>
              <a:t>Reduced </a:t>
            </a:r>
            <a:r>
              <a:rPr lang="en-US" sz="1600" b="1" dirty="0"/>
              <a:t>waiting </a:t>
            </a:r>
            <a:r>
              <a:rPr lang="en-US" sz="1600" dirty="0"/>
              <a:t>and</a:t>
            </a:r>
            <a:r>
              <a:rPr lang="en-US" sz="1600" b="1" dirty="0"/>
              <a:t> failed </a:t>
            </a:r>
            <a:r>
              <a:rPr lang="en-US" sz="1600" dirty="0"/>
              <a:t>interactions.</a:t>
            </a:r>
          </a:p>
          <a:p>
            <a:r>
              <a:rPr lang="en-US" sz="1600" dirty="0"/>
              <a:t>Improved </a:t>
            </a:r>
            <a:r>
              <a:rPr lang="en-US" sz="1600" b="1" dirty="0"/>
              <a:t>customer experience.</a:t>
            </a:r>
          </a:p>
          <a:p>
            <a:r>
              <a:rPr lang="en-US" sz="1600" dirty="0"/>
              <a:t>Better use of agent capacity</a:t>
            </a:r>
            <a:r>
              <a:rPr lang="en-US" sz="1600" b="1" dirty="0"/>
              <a:t>.</a:t>
            </a:r>
            <a:endParaRPr lang="en-US" sz="1600" dirty="0"/>
          </a:p>
        </p:txBody>
      </p:sp>
      <p:pic>
        <p:nvPicPr>
          <p:cNvPr id="4" name="Picture 3">
            <a:extLst>
              <a:ext uri="{FF2B5EF4-FFF2-40B4-BE49-F238E27FC236}">
                <a16:creationId xmlns:a16="http://schemas.microsoft.com/office/drawing/2014/main" id="{48102A8F-EF47-7668-270C-4E0EDC5303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018" y="477671"/>
            <a:ext cx="1387871" cy="1377029"/>
          </a:xfrm>
          <a:prstGeom prst="rect">
            <a:avLst/>
          </a:prstGeom>
          <a:noFill/>
        </p:spPr>
      </p:pic>
      <p:pic>
        <p:nvPicPr>
          <p:cNvPr id="6" name="Picture 5">
            <a:extLst>
              <a:ext uri="{FF2B5EF4-FFF2-40B4-BE49-F238E27FC236}">
                <a16:creationId xmlns:a16="http://schemas.microsoft.com/office/drawing/2014/main" id="{8B24C61D-8E9D-EDC4-13BE-440644EFC4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7352" y="3002823"/>
            <a:ext cx="4884648" cy="3203047"/>
          </a:xfrm>
          <a:prstGeom prst="rect">
            <a:avLst/>
          </a:prstGeom>
        </p:spPr>
      </p:pic>
    </p:spTree>
    <p:extLst>
      <p:ext uri="{BB962C8B-B14F-4D97-AF65-F5344CB8AC3E}">
        <p14:creationId xmlns:p14="http://schemas.microsoft.com/office/powerpoint/2010/main" val="346136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5E340-C33F-937A-6835-79DB30A95F01}"/>
              </a:ext>
            </a:extLst>
          </p:cNvPr>
          <p:cNvSpPr>
            <a:spLocks noGrp="1"/>
          </p:cNvSpPr>
          <p:nvPr>
            <p:ph type="title"/>
          </p:nvPr>
        </p:nvSpPr>
        <p:spPr>
          <a:xfrm>
            <a:off x="1715293" y="1018528"/>
            <a:ext cx="8761413" cy="706964"/>
          </a:xfrm>
        </p:spPr>
        <p:txBody>
          <a:bodyPr/>
          <a:lstStyle/>
          <a:p>
            <a:pPr algn="ctr"/>
            <a:r>
              <a:rPr lang="en-US" dirty="0">
                <a:latin typeface="Cooper Black" panose="0208090404030B020404" pitchFamily="18" charset="0"/>
              </a:rPr>
              <a:t>Strategic Recommendation 2: Improve Agent Performance</a:t>
            </a:r>
          </a:p>
        </p:txBody>
      </p:sp>
      <p:sp>
        <p:nvSpPr>
          <p:cNvPr id="3" name="Content Placeholder 2">
            <a:extLst>
              <a:ext uri="{FF2B5EF4-FFF2-40B4-BE49-F238E27FC236}">
                <a16:creationId xmlns:a16="http://schemas.microsoft.com/office/drawing/2014/main" id="{0CCD0D42-E879-6ADB-BC59-3737A47F7D4E}"/>
              </a:ext>
            </a:extLst>
          </p:cNvPr>
          <p:cNvSpPr>
            <a:spLocks noGrp="1"/>
          </p:cNvSpPr>
          <p:nvPr>
            <p:ph idx="1"/>
          </p:nvPr>
        </p:nvSpPr>
        <p:spPr>
          <a:xfrm>
            <a:off x="1" y="2303248"/>
            <a:ext cx="7069540" cy="4554751"/>
          </a:xfrm>
        </p:spPr>
        <p:txBody>
          <a:bodyPr>
            <a:normAutofit lnSpcReduction="10000"/>
          </a:bodyPr>
          <a:lstStyle/>
          <a:p>
            <a:r>
              <a:rPr lang="en-US" b="1" u="sng" dirty="0"/>
              <a:t>Implement targeted training and performance monitoring for Gurus</a:t>
            </a:r>
          </a:p>
          <a:p>
            <a:r>
              <a:rPr lang="en-US" b="1" dirty="0"/>
              <a:t>Data-Driven Reason</a:t>
            </a:r>
          </a:p>
          <a:p>
            <a:r>
              <a:rPr lang="en-US" dirty="0"/>
              <a:t>Customer satisfaction is relatively low, with an overall average rating of approximately </a:t>
            </a:r>
            <a:r>
              <a:rPr lang="en-US" b="1" dirty="0"/>
              <a:t>2.93</a:t>
            </a:r>
            <a:r>
              <a:rPr lang="en-US" dirty="0"/>
              <a:t>.</a:t>
            </a:r>
            <a:endParaRPr lang="en-US" b="1" dirty="0"/>
          </a:p>
          <a:p>
            <a:r>
              <a:rPr lang="en-US" dirty="0"/>
              <a:t>Agent workload and performance vary across Gurus.</a:t>
            </a:r>
            <a:endParaRPr lang="en-US" b="1" dirty="0"/>
          </a:p>
          <a:p>
            <a:r>
              <a:rPr lang="en-US" dirty="0"/>
              <a:t>Rating and workload analysis can identify agents who need additional support or training.</a:t>
            </a:r>
          </a:p>
          <a:p>
            <a:r>
              <a:rPr lang="en-US" b="1" dirty="0"/>
              <a:t>Expected Impact</a:t>
            </a:r>
          </a:p>
          <a:p>
            <a:r>
              <a:rPr lang="en-US" sz="1600" dirty="0"/>
              <a:t>Higher </a:t>
            </a:r>
            <a:r>
              <a:rPr lang="en-US" sz="1600" b="1" dirty="0"/>
              <a:t>customer satisfaction.</a:t>
            </a:r>
          </a:p>
          <a:p>
            <a:r>
              <a:rPr lang="en-US" sz="1600" dirty="0"/>
              <a:t>More consistent service quality.</a:t>
            </a:r>
          </a:p>
          <a:p>
            <a:r>
              <a:rPr lang="en-US" sz="1600" dirty="0"/>
              <a:t>Better agent productivity.</a:t>
            </a:r>
          </a:p>
          <a:p>
            <a:r>
              <a:rPr lang="en-US" sz="1600" dirty="0"/>
              <a:t>Improved customer retention.</a:t>
            </a:r>
            <a:endParaRPr lang="en-US" sz="1600" b="1" dirty="0"/>
          </a:p>
        </p:txBody>
      </p:sp>
      <p:pic>
        <p:nvPicPr>
          <p:cNvPr id="4" name="Picture 3">
            <a:extLst>
              <a:ext uri="{FF2B5EF4-FFF2-40B4-BE49-F238E27FC236}">
                <a16:creationId xmlns:a16="http://schemas.microsoft.com/office/drawing/2014/main" id="{F7E88AD7-2E56-870E-1680-5A4EEC06B7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018" y="477671"/>
            <a:ext cx="1387871" cy="1377029"/>
          </a:xfrm>
          <a:prstGeom prst="rect">
            <a:avLst/>
          </a:prstGeom>
          <a:noFill/>
        </p:spPr>
      </p:pic>
      <p:pic>
        <p:nvPicPr>
          <p:cNvPr id="6" name="Picture 5">
            <a:extLst>
              <a:ext uri="{FF2B5EF4-FFF2-40B4-BE49-F238E27FC236}">
                <a16:creationId xmlns:a16="http://schemas.microsoft.com/office/drawing/2014/main" id="{119F5D50-66A5-6BA6-95D9-4C6E2F154D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4823" y="2919064"/>
            <a:ext cx="5327176" cy="3331567"/>
          </a:xfrm>
          <a:prstGeom prst="rect">
            <a:avLst/>
          </a:prstGeom>
        </p:spPr>
      </p:pic>
    </p:spTree>
    <p:extLst>
      <p:ext uri="{BB962C8B-B14F-4D97-AF65-F5344CB8AC3E}">
        <p14:creationId xmlns:p14="http://schemas.microsoft.com/office/powerpoint/2010/main" val="1713754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25C0B-33C8-EEC1-5963-C8E7272751DB}"/>
              </a:ext>
            </a:extLst>
          </p:cNvPr>
          <p:cNvSpPr>
            <a:spLocks noGrp="1"/>
          </p:cNvSpPr>
          <p:nvPr>
            <p:ph type="title"/>
          </p:nvPr>
        </p:nvSpPr>
        <p:spPr>
          <a:xfrm>
            <a:off x="1715293" y="919077"/>
            <a:ext cx="8761413" cy="706964"/>
          </a:xfrm>
        </p:spPr>
        <p:txBody>
          <a:bodyPr/>
          <a:lstStyle/>
          <a:p>
            <a:pPr algn="ctr"/>
            <a:r>
              <a:rPr lang="en-US" dirty="0">
                <a:latin typeface="Cooper Black" panose="0208090404030B020404" pitchFamily="18" charset="0"/>
              </a:rPr>
              <a:t>Strategic Recommendation 3: Implement Demand-Based Workforce Planning</a:t>
            </a:r>
          </a:p>
        </p:txBody>
      </p:sp>
      <p:sp>
        <p:nvSpPr>
          <p:cNvPr id="3" name="Content Placeholder 2">
            <a:extLst>
              <a:ext uri="{FF2B5EF4-FFF2-40B4-BE49-F238E27FC236}">
                <a16:creationId xmlns:a16="http://schemas.microsoft.com/office/drawing/2014/main" id="{0BB042DD-7E16-2480-A686-65DFB0275F9C}"/>
              </a:ext>
            </a:extLst>
          </p:cNvPr>
          <p:cNvSpPr>
            <a:spLocks noGrp="1"/>
          </p:cNvSpPr>
          <p:nvPr>
            <p:ph idx="1"/>
          </p:nvPr>
        </p:nvSpPr>
        <p:spPr>
          <a:xfrm>
            <a:off x="1" y="2350696"/>
            <a:ext cx="6632811" cy="4507304"/>
          </a:xfrm>
        </p:spPr>
        <p:txBody>
          <a:bodyPr>
            <a:normAutofit fontScale="85000" lnSpcReduction="20000"/>
          </a:bodyPr>
          <a:lstStyle/>
          <a:p>
            <a:r>
              <a:rPr lang="en-US" b="1" u="sng" dirty="0"/>
              <a:t>Align Guru availability and staffing with customer demand patterns</a:t>
            </a:r>
          </a:p>
          <a:p>
            <a:r>
              <a:rPr lang="en-US" b="1" dirty="0"/>
              <a:t>Data-Driven Reason</a:t>
            </a:r>
          </a:p>
          <a:p>
            <a:r>
              <a:rPr lang="en-US" sz="1600" dirty="0"/>
              <a:t>Customer interactions vary significantly by </a:t>
            </a:r>
            <a:r>
              <a:rPr lang="en-US" sz="1600" b="1" dirty="0"/>
              <a:t>day, month </a:t>
            </a:r>
            <a:r>
              <a:rPr lang="en-US" sz="1600" dirty="0"/>
              <a:t>and</a:t>
            </a:r>
            <a:r>
              <a:rPr lang="en-US" sz="1600" b="1" dirty="0"/>
              <a:t> hour</a:t>
            </a:r>
            <a:r>
              <a:rPr lang="en-US" sz="1600" dirty="0"/>
              <a:t>.</a:t>
            </a:r>
          </a:p>
          <a:p>
            <a:r>
              <a:rPr lang="en-US" sz="1600" b="1" dirty="0"/>
              <a:t>08:00AM </a:t>
            </a:r>
            <a:r>
              <a:rPr lang="en-US" sz="1600" dirty="0"/>
              <a:t>is the identified</a:t>
            </a:r>
            <a:r>
              <a:rPr lang="en-US" sz="1600" b="1" dirty="0"/>
              <a:t> peak hour</a:t>
            </a:r>
            <a:r>
              <a:rPr lang="en-US" sz="1600" dirty="0"/>
              <a:t>, indicating concentrated demand.</a:t>
            </a:r>
          </a:p>
          <a:p>
            <a:r>
              <a:rPr lang="en-US" sz="1600" dirty="0"/>
              <a:t>Fixed staffing throughout the day can lead to under-utilization during low-demand periods and pressure during peak periods.</a:t>
            </a:r>
          </a:p>
          <a:p>
            <a:r>
              <a:rPr lang="en-US" b="1" dirty="0"/>
              <a:t>Expected Impact</a:t>
            </a:r>
          </a:p>
          <a:p>
            <a:r>
              <a:rPr lang="en-US" dirty="0"/>
              <a:t>Reduced </a:t>
            </a:r>
            <a:r>
              <a:rPr lang="en-US" b="1" dirty="0"/>
              <a:t>waiting time</a:t>
            </a:r>
          </a:p>
          <a:p>
            <a:r>
              <a:rPr lang="en-US" dirty="0"/>
              <a:t>Better coverage during peak periods</a:t>
            </a:r>
            <a:endParaRPr lang="en-US" b="1" dirty="0"/>
          </a:p>
          <a:p>
            <a:r>
              <a:rPr lang="en-US" dirty="0"/>
              <a:t>Improved agent utilization</a:t>
            </a:r>
            <a:endParaRPr lang="en-US" b="1" dirty="0"/>
          </a:p>
          <a:p>
            <a:r>
              <a:rPr lang="en-US" dirty="0"/>
              <a:t>Lower unnecessary operational costs</a:t>
            </a:r>
            <a:endParaRPr lang="en-US" b="1" dirty="0"/>
          </a:p>
          <a:p>
            <a:r>
              <a:rPr lang="en-US" dirty="0"/>
              <a:t>Better overall </a:t>
            </a:r>
            <a:r>
              <a:rPr lang="en-US" b="1" dirty="0"/>
              <a:t>customer experience</a:t>
            </a:r>
          </a:p>
          <a:p>
            <a:r>
              <a:rPr lang="en-US" b="1" u="sng" dirty="0"/>
              <a:t>Key takeaway:</a:t>
            </a:r>
          </a:p>
          <a:p>
            <a:r>
              <a:rPr lang="en-US" dirty="0"/>
              <a:t>Use data-driven workforce planning to put the right number of Gurus in the right place at the right time.</a:t>
            </a:r>
            <a:endParaRPr lang="en-US" b="1" u="sng" dirty="0"/>
          </a:p>
          <a:p>
            <a:endParaRPr lang="en-US" b="1" u="sng" dirty="0"/>
          </a:p>
        </p:txBody>
      </p:sp>
      <p:pic>
        <p:nvPicPr>
          <p:cNvPr id="4" name="Picture 3">
            <a:extLst>
              <a:ext uri="{FF2B5EF4-FFF2-40B4-BE49-F238E27FC236}">
                <a16:creationId xmlns:a16="http://schemas.microsoft.com/office/drawing/2014/main" id="{9005F52D-EC03-796C-C501-98CA80E6D2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018" y="477671"/>
            <a:ext cx="1387871" cy="1377029"/>
          </a:xfrm>
          <a:prstGeom prst="rect">
            <a:avLst/>
          </a:prstGeom>
          <a:noFill/>
        </p:spPr>
      </p:pic>
      <p:pic>
        <p:nvPicPr>
          <p:cNvPr id="6" name="Picture 5">
            <a:extLst>
              <a:ext uri="{FF2B5EF4-FFF2-40B4-BE49-F238E27FC236}">
                <a16:creationId xmlns:a16="http://schemas.microsoft.com/office/drawing/2014/main" id="{4F40858C-0BBC-FBDB-4E0C-88C3E8B411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5033" y="3061016"/>
            <a:ext cx="5436967" cy="3086664"/>
          </a:xfrm>
          <a:prstGeom prst="rect">
            <a:avLst/>
          </a:prstGeom>
        </p:spPr>
      </p:pic>
    </p:spTree>
    <p:extLst>
      <p:ext uri="{BB962C8B-B14F-4D97-AF65-F5344CB8AC3E}">
        <p14:creationId xmlns:p14="http://schemas.microsoft.com/office/powerpoint/2010/main" val="1358572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6DDB2-6177-D999-2ACB-D6CA9547C092}"/>
              </a:ext>
            </a:extLst>
          </p:cNvPr>
          <p:cNvSpPr>
            <a:spLocks noGrp="1"/>
          </p:cNvSpPr>
          <p:nvPr>
            <p:ph type="title"/>
          </p:nvPr>
        </p:nvSpPr>
        <p:spPr>
          <a:xfrm>
            <a:off x="1715292" y="1042253"/>
            <a:ext cx="8761413" cy="706964"/>
          </a:xfrm>
        </p:spPr>
        <p:txBody>
          <a:bodyPr/>
          <a:lstStyle/>
          <a:p>
            <a:pPr algn="ctr"/>
            <a:r>
              <a:rPr lang="en-US" sz="3600" dirty="0" err="1">
                <a:latin typeface="Cooper Black" panose="0208090404030B020404" pitchFamily="18" charset="0"/>
              </a:rPr>
              <a:t>Astrosage</a:t>
            </a:r>
            <a:r>
              <a:rPr lang="en-US" sz="3600" dirty="0">
                <a:latin typeface="Cooper Black" panose="0208090404030B020404" pitchFamily="18" charset="0"/>
              </a:rPr>
              <a:t> Call Analysis</a:t>
            </a:r>
            <a:r>
              <a:rPr lang="en-US" sz="3600" baseline="0" dirty="0">
                <a:latin typeface="Cooper Black" panose="0208090404030B020404" pitchFamily="18" charset="0"/>
              </a:rPr>
              <a:t> Dashboard</a:t>
            </a:r>
            <a:endParaRPr lang="en-US" sz="3600" dirty="0">
              <a:latin typeface="Cooper Black" panose="0208090404030B020404" pitchFamily="18" charset="0"/>
            </a:endParaRPr>
          </a:p>
        </p:txBody>
      </p:sp>
      <p:pic>
        <p:nvPicPr>
          <p:cNvPr id="4" name="Picture 3">
            <a:extLst>
              <a:ext uri="{FF2B5EF4-FFF2-40B4-BE49-F238E27FC236}">
                <a16:creationId xmlns:a16="http://schemas.microsoft.com/office/drawing/2014/main" id="{38D6D958-D130-AB78-86F1-18897EEED2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018" y="477671"/>
            <a:ext cx="1387871" cy="1377029"/>
          </a:xfrm>
          <a:prstGeom prst="rect">
            <a:avLst/>
          </a:prstGeom>
          <a:noFill/>
        </p:spPr>
      </p:pic>
      <p:pic>
        <p:nvPicPr>
          <p:cNvPr id="8" name="Picture 7">
            <a:extLst>
              <a:ext uri="{FF2B5EF4-FFF2-40B4-BE49-F238E27FC236}">
                <a16:creationId xmlns:a16="http://schemas.microsoft.com/office/drawing/2014/main" id="{5BDD1EC0-E73A-141F-BE34-948078F442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13799"/>
            <a:ext cx="12192000" cy="4544201"/>
          </a:xfrm>
          <a:prstGeom prst="rect">
            <a:avLst/>
          </a:prstGeom>
        </p:spPr>
      </p:pic>
    </p:spTree>
    <p:extLst>
      <p:ext uri="{BB962C8B-B14F-4D97-AF65-F5344CB8AC3E}">
        <p14:creationId xmlns:p14="http://schemas.microsoft.com/office/powerpoint/2010/main" val="598746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0EB3E-2FCD-1861-614B-688A3AD489B9}"/>
              </a:ext>
            </a:extLst>
          </p:cNvPr>
          <p:cNvSpPr>
            <a:spLocks noGrp="1"/>
          </p:cNvSpPr>
          <p:nvPr>
            <p:ph type="title"/>
          </p:nvPr>
        </p:nvSpPr>
        <p:spPr>
          <a:xfrm>
            <a:off x="1715293" y="812703"/>
            <a:ext cx="8761413" cy="706964"/>
          </a:xfrm>
        </p:spPr>
        <p:txBody>
          <a:bodyPr/>
          <a:lstStyle/>
          <a:p>
            <a:pPr algn="ctr"/>
            <a:r>
              <a:rPr lang="en-US" dirty="0">
                <a:latin typeface="Cooper Black" panose="0208090404030B020404" pitchFamily="18" charset="0"/>
              </a:rPr>
              <a:t>Key Features Of The Dashboard</a:t>
            </a:r>
          </a:p>
        </p:txBody>
      </p:sp>
      <p:sp>
        <p:nvSpPr>
          <p:cNvPr id="3" name="Content Placeholder 2">
            <a:extLst>
              <a:ext uri="{FF2B5EF4-FFF2-40B4-BE49-F238E27FC236}">
                <a16:creationId xmlns:a16="http://schemas.microsoft.com/office/drawing/2014/main" id="{9C280A69-FEC8-F9BA-AF5D-2C63DA15AF70}"/>
              </a:ext>
            </a:extLst>
          </p:cNvPr>
          <p:cNvSpPr>
            <a:spLocks noGrp="1"/>
          </p:cNvSpPr>
          <p:nvPr>
            <p:ph idx="1"/>
          </p:nvPr>
        </p:nvSpPr>
        <p:spPr>
          <a:xfrm>
            <a:off x="0" y="2603500"/>
            <a:ext cx="9894627" cy="4254500"/>
          </a:xfrm>
        </p:spPr>
        <p:txBody>
          <a:bodyPr>
            <a:normAutofit/>
          </a:bodyPr>
          <a:lstStyle/>
          <a:p>
            <a:r>
              <a:rPr lang="en-US" sz="1600" b="1" dirty="0"/>
              <a:t>KPI Cards:</a:t>
            </a:r>
            <a:r>
              <a:rPr lang="en-US" sz="1600" dirty="0"/>
              <a:t> Quickly monitor key business metrics such as </a:t>
            </a:r>
            <a:r>
              <a:rPr lang="en-US" sz="1600" b="1" dirty="0"/>
              <a:t>total revenue, total interactions, completed calls </a:t>
            </a:r>
            <a:r>
              <a:rPr lang="en-US" sz="1600" dirty="0"/>
              <a:t>and</a:t>
            </a:r>
            <a:r>
              <a:rPr lang="en-US" sz="1600" b="1" dirty="0"/>
              <a:t> average rating</a:t>
            </a:r>
            <a:r>
              <a:rPr lang="en-US" sz="1600" dirty="0"/>
              <a:t>.</a:t>
            </a:r>
          </a:p>
          <a:p>
            <a:r>
              <a:rPr lang="en-US" sz="1600" b="1" dirty="0"/>
              <a:t>Charts &amp; Graphs:</a:t>
            </a:r>
            <a:r>
              <a:rPr lang="en-US" sz="1600" dirty="0"/>
              <a:t> Visualize call/chat volume, revenue contribution, interaction status and customer satisfaction.</a:t>
            </a:r>
          </a:p>
          <a:p>
            <a:r>
              <a:rPr lang="en-US" sz="1600" b="1" dirty="0"/>
              <a:t>Slicers:</a:t>
            </a:r>
            <a:r>
              <a:rPr lang="en-US" sz="1600" dirty="0"/>
              <a:t> Interactively filter the dashboard by </a:t>
            </a:r>
            <a:r>
              <a:rPr lang="en-US" sz="1600" b="1" dirty="0"/>
              <a:t>Astrologer Name, Month, Consultation Type, Source Platform, Call Status, and Chat status</a:t>
            </a:r>
            <a:r>
              <a:rPr lang="en-US" sz="1600" dirty="0"/>
              <a:t>.</a:t>
            </a:r>
          </a:p>
          <a:p>
            <a:r>
              <a:rPr lang="en-US" sz="1600" b="1" dirty="0"/>
              <a:t>Dynamic Analysis:</a:t>
            </a:r>
            <a:r>
              <a:rPr lang="en-US" sz="1600" dirty="0"/>
              <a:t> Selecting a slicer automatically updates the connected PivotTables and charts.</a:t>
            </a:r>
          </a:p>
          <a:p>
            <a:r>
              <a:rPr lang="en-US" sz="1600" dirty="0"/>
              <a:t>The dashboard converts the detailed Excel analysis into an interactive view, helping decision-makers quickly identify demand patterns, service gaps, revenue trends and customer experience issues.</a:t>
            </a:r>
          </a:p>
        </p:txBody>
      </p:sp>
      <p:pic>
        <p:nvPicPr>
          <p:cNvPr id="4" name="Picture 3">
            <a:extLst>
              <a:ext uri="{FF2B5EF4-FFF2-40B4-BE49-F238E27FC236}">
                <a16:creationId xmlns:a16="http://schemas.microsoft.com/office/drawing/2014/main" id="{8DE345ED-5660-D778-2E7D-3ED338667D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018" y="477671"/>
            <a:ext cx="1387871" cy="1377029"/>
          </a:xfrm>
          <a:prstGeom prst="rect">
            <a:avLst/>
          </a:prstGeom>
          <a:noFill/>
        </p:spPr>
      </p:pic>
    </p:spTree>
    <p:extLst>
      <p:ext uri="{BB962C8B-B14F-4D97-AF65-F5344CB8AC3E}">
        <p14:creationId xmlns:p14="http://schemas.microsoft.com/office/powerpoint/2010/main" val="2535686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D6BAB-FB4E-D804-F87C-6C7236E842E4}"/>
              </a:ext>
            </a:extLst>
          </p:cNvPr>
          <p:cNvSpPr>
            <a:spLocks noGrp="1"/>
          </p:cNvSpPr>
          <p:nvPr>
            <p:ph type="title"/>
          </p:nvPr>
        </p:nvSpPr>
        <p:spPr/>
        <p:txBody>
          <a:bodyPr/>
          <a:lstStyle/>
          <a:p>
            <a:pPr algn="ctr"/>
            <a:r>
              <a:rPr lang="en-US" dirty="0">
                <a:latin typeface="Cooper Black" panose="0208090404030B020404" pitchFamily="18" charset="0"/>
              </a:rPr>
              <a:t>Conclusion</a:t>
            </a:r>
          </a:p>
        </p:txBody>
      </p:sp>
      <p:sp>
        <p:nvSpPr>
          <p:cNvPr id="3" name="Content Placeholder 2">
            <a:extLst>
              <a:ext uri="{FF2B5EF4-FFF2-40B4-BE49-F238E27FC236}">
                <a16:creationId xmlns:a16="http://schemas.microsoft.com/office/drawing/2014/main" id="{23E41600-55A7-6201-A95F-CE07EE378582}"/>
              </a:ext>
            </a:extLst>
          </p:cNvPr>
          <p:cNvSpPr>
            <a:spLocks noGrp="1"/>
          </p:cNvSpPr>
          <p:nvPr>
            <p:ph idx="1"/>
          </p:nvPr>
        </p:nvSpPr>
        <p:spPr>
          <a:xfrm>
            <a:off x="0" y="2617146"/>
            <a:ext cx="11750722" cy="4240853"/>
          </a:xfrm>
        </p:spPr>
        <p:txBody>
          <a:bodyPr>
            <a:normAutofit lnSpcReduction="10000"/>
          </a:bodyPr>
          <a:lstStyle/>
          <a:p>
            <a:r>
              <a:rPr lang="en-US" sz="1800" b="1" u="sng" dirty="0"/>
              <a:t>Insights And Key Findings:</a:t>
            </a:r>
            <a:endParaRPr lang="en-US" sz="1800" b="1" dirty="0"/>
          </a:p>
          <a:p>
            <a:r>
              <a:rPr lang="en-US" sz="1600" dirty="0"/>
              <a:t>The analysis of </a:t>
            </a:r>
            <a:r>
              <a:rPr lang="en-US" sz="1600" b="1" dirty="0"/>
              <a:t>28,027 </a:t>
            </a:r>
            <a:r>
              <a:rPr lang="en-US" sz="1600" dirty="0"/>
              <a:t>customer interactions revealed important patterns in </a:t>
            </a:r>
            <a:r>
              <a:rPr lang="en-US" sz="1600" b="1" dirty="0"/>
              <a:t>demand, service performance, agent workload </a:t>
            </a:r>
            <a:r>
              <a:rPr lang="en-US" sz="1600" dirty="0"/>
              <a:t>and</a:t>
            </a:r>
            <a:r>
              <a:rPr lang="en-US" sz="1600" b="1" dirty="0"/>
              <a:t> customer satisfaction</a:t>
            </a:r>
            <a:r>
              <a:rPr lang="en-US" sz="1600" dirty="0"/>
              <a:t>.</a:t>
            </a:r>
          </a:p>
          <a:p>
            <a:r>
              <a:rPr lang="en-US" sz="1600" dirty="0"/>
              <a:t>Customer demand varies across </a:t>
            </a:r>
            <a:r>
              <a:rPr lang="en-US" sz="1600" b="1" dirty="0"/>
              <a:t>days, months and hours</a:t>
            </a:r>
            <a:r>
              <a:rPr lang="en-US" sz="1600" dirty="0"/>
              <a:t>, highlighting the need for demand-based workforce planning.</a:t>
            </a:r>
          </a:p>
          <a:p>
            <a:r>
              <a:rPr lang="en-US" sz="1600" b="1" dirty="0"/>
              <a:t>Calls </a:t>
            </a:r>
            <a:r>
              <a:rPr lang="en-US" sz="1600" dirty="0"/>
              <a:t>are the major </a:t>
            </a:r>
            <a:r>
              <a:rPr lang="en-US" sz="1600" b="1" dirty="0"/>
              <a:t>revenue-generating </a:t>
            </a:r>
            <a:r>
              <a:rPr lang="en-US" sz="1600" dirty="0"/>
              <a:t>channel, making call-service efficiency an important business priority.</a:t>
            </a:r>
          </a:p>
          <a:p>
            <a:r>
              <a:rPr lang="en-US" sz="1600" dirty="0"/>
              <a:t>Customer satisfaction and service completion show opportunities for </a:t>
            </a:r>
            <a:r>
              <a:rPr lang="en-US" sz="1600" b="1" dirty="0"/>
              <a:t>improving </a:t>
            </a:r>
            <a:r>
              <a:rPr lang="en-US" sz="1600" dirty="0"/>
              <a:t>the overall </a:t>
            </a:r>
            <a:r>
              <a:rPr lang="en-US" sz="1600" b="1" dirty="0"/>
              <a:t>customer experience</a:t>
            </a:r>
            <a:r>
              <a:rPr lang="en-US" sz="1600" dirty="0"/>
              <a:t>.</a:t>
            </a:r>
          </a:p>
          <a:p>
            <a:r>
              <a:rPr lang="en-US" sz="1600" dirty="0"/>
              <a:t>The recommended </a:t>
            </a:r>
            <a:r>
              <a:rPr lang="en-US" sz="1600" b="1" dirty="0"/>
              <a:t>₹1 Crore investment</a:t>
            </a:r>
            <a:r>
              <a:rPr lang="en-US" sz="1600" dirty="0"/>
              <a:t> should prioritize </a:t>
            </a:r>
            <a:r>
              <a:rPr lang="en-US" sz="1600" b="1" dirty="0"/>
              <a:t>employee training, technology </a:t>
            </a:r>
            <a:r>
              <a:rPr lang="en-US" sz="1600" dirty="0"/>
              <a:t>and</a:t>
            </a:r>
            <a:r>
              <a:rPr lang="en-US" sz="1600" b="1" dirty="0"/>
              <a:t> targeted hiring</a:t>
            </a:r>
            <a:r>
              <a:rPr lang="en-US" sz="1600" dirty="0"/>
              <a:t>.</a:t>
            </a:r>
          </a:p>
          <a:p>
            <a:r>
              <a:rPr lang="en-US" sz="1600" dirty="0"/>
              <a:t>A </a:t>
            </a:r>
            <a:r>
              <a:rPr lang="en-US" sz="1600" b="1" dirty="0"/>
              <a:t>phased technology roadmap</a:t>
            </a:r>
            <a:r>
              <a:rPr lang="en-US" sz="1600" dirty="0"/>
              <a:t> can improve service efficiency, reduce repetitive workload and strengthen quality monitoring.</a:t>
            </a:r>
          </a:p>
          <a:p>
            <a:r>
              <a:rPr lang="en-US" b="1" u="sng" dirty="0"/>
              <a:t>Key takeaway:</a:t>
            </a:r>
          </a:p>
          <a:p>
            <a:r>
              <a:rPr lang="en-US" sz="1600" dirty="0"/>
              <a:t>By turning customer interaction data into actionable insights, </a:t>
            </a:r>
            <a:r>
              <a:rPr lang="en-US" sz="1600" b="1" dirty="0" err="1"/>
              <a:t>AstroSage</a:t>
            </a:r>
            <a:r>
              <a:rPr lang="en-US" sz="1600" dirty="0"/>
              <a:t> can improve </a:t>
            </a:r>
            <a:r>
              <a:rPr lang="en-US" sz="1600" b="1" dirty="0"/>
              <a:t>service efficiency, strengthen customer satisfaction </a:t>
            </a:r>
            <a:r>
              <a:rPr lang="en-US" sz="1600" dirty="0"/>
              <a:t>and make smarter</a:t>
            </a:r>
            <a:r>
              <a:rPr lang="en-US" sz="1600" b="1" dirty="0"/>
              <a:t> investment decisions</a:t>
            </a:r>
            <a:r>
              <a:rPr lang="en-US" sz="1600" dirty="0"/>
              <a:t>.</a:t>
            </a:r>
            <a:endParaRPr lang="en-US" sz="1600" b="1" u="sng" dirty="0"/>
          </a:p>
          <a:p>
            <a:endParaRPr lang="en-US" sz="1600" dirty="0"/>
          </a:p>
        </p:txBody>
      </p:sp>
      <p:pic>
        <p:nvPicPr>
          <p:cNvPr id="4" name="Picture 3">
            <a:extLst>
              <a:ext uri="{FF2B5EF4-FFF2-40B4-BE49-F238E27FC236}">
                <a16:creationId xmlns:a16="http://schemas.microsoft.com/office/drawing/2014/main" id="{919D4BBB-3844-7304-0FCD-959302281F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018" y="477671"/>
            <a:ext cx="1387871" cy="1377029"/>
          </a:xfrm>
          <a:prstGeom prst="rect">
            <a:avLst/>
          </a:prstGeom>
          <a:noFill/>
        </p:spPr>
      </p:pic>
    </p:spTree>
    <p:extLst>
      <p:ext uri="{BB962C8B-B14F-4D97-AF65-F5344CB8AC3E}">
        <p14:creationId xmlns:p14="http://schemas.microsoft.com/office/powerpoint/2010/main" val="318974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4FEE6-15B8-9AA4-DAD8-90284992031E}"/>
              </a:ext>
            </a:extLst>
          </p:cNvPr>
          <p:cNvSpPr>
            <a:spLocks noGrp="1"/>
          </p:cNvSpPr>
          <p:nvPr>
            <p:ph type="title"/>
          </p:nvPr>
        </p:nvSpPr>
        <p:spPr>
          <a:xfrm>
            <a:off x="1715293" y="838200"/>
            <a:ext cx="8761413" cy="706964"/>
          </a:xfrm>
        </p:spPr>
        <p:txBody>
          <a:bodyPr/>
          <a:lstStyle/>
          <a:p>
            <a:pPr algn="ctr"/>
            <a:r>
              <a:rPr lang="en-US" dirty="0">
                <a:latin typeface="Cooper Black" panose="0208090404030B020404" pitchFamily="18" charset="0"/>
              </a:rPr>
              <a:t>Acknowledgements &amp; References</a:t>
            </a:r>
          </a:p>
        </p:txBody>
      </p:sp>
      <p:sp>
        <p:nvSpPr>
          <p:cNvPr id="3" name="Content Placeholder 2">
            <a:extLst>
              <a:ext uri="{FF2B5EF4-FFF2-40B4-BE49-F238E27FC236}">
                <a16:creationId xmlns:a16="http://schemas.microsoft.com/office/drawing/2014/main" id="{41E5F103-CAC1-0DC8-D079-D746B0195257}"/>
              </a:ext>
            </a:extLst>
          </p:cNvPr>
          <p:cNvSpPr>
            <a:spLocks noGrp="1"/>
          </p:cNvSpPr>
          <p:nvPr>
            <p:ph idx="1"/>
          </p:nvPr>
        </p:nvSpPr>
        <p:spPr/>
        <p:txBody>
          <a:bodyPr/>
          <a:lstStyle/>
          <a:p>
            <a:r>
              <a:rPr lang="en-US" b="1" u="sng" dirty="0"/>
              <a:t>Acknowledgements:</a:t>
            </a:r>
          </a:p>
          <a:p>
            <a:r>
              <a:rPr lang="en-US" sz="1600" b="1" dirty="0"/>
              <a:t>Newton School: </a:t>
            </a:r>
            <a:r>
              <a:rPr lang="en-US" sz="1600" dirty="0"/>
              <a:t>Project guidelines, learning resources and mentorship.</a:t>
            </a:r>
          </a:p>
          <a:p>
            <a:r>
              <a:rPr lang="en-US" sz="1600" b="1" dirty="0"/>
              <a:t>Project Mentor/Instructor: </a:t>
            </a:r>
            <a:r>
              <a:rPr lang="en-US" sz="1600" dirty="0"/>
              <a:t>Guidance and feedback throughout the project.</a:t>
            </a:r>
          </a:p>
          <a:p>
            <a:r>
              <a:rPr lang="en-US" b="1" u="sng" dirty="0"/>
              <a:t>References &amp; Data Sources:</a:t>
            </a:r>
          </a:p>
          <a:p>
            <a:r>
              <a:rPr lang="en-US" b="1" dirty="0" err="1"/>
              <a:t>AstroSage</a:t>
            </a:r>
            <a:r>
              <a:rPr lang="en-US" b="1" dirty="0"/>
              <a:t> Project Dataset: </a:t>
            </a:r>
            <a:r>
              <a:rPr lang="en-US" dirty="0"/>
              <a:t>Cleaned Data Worksheet</a:t>
            </a:r>
          </a:p>
          <a:p>
            <a:r>
              <a:rPr lang="en-US" b="1" dirty="0"/>
              <a:t>Objective Questions: </a:t>
            </a:r>
            <a:r>
              <a:rPr lang="en-US" dirty="0"/>
              <a:t>Objective Worksheet</a:t>
            </a:r>
          </a:p>
          <a:p>
            <a:r>
              <a:rPr lang="en-US" b="1" dirty="0"/>
              <a:t>Subjective Questions: </a:t>
            </a:r>
            <a:r>
              <a:rPr lang="en-US" dirty="0"/>
              <a:t>Subjective Worksheet</a:t>
            </a:r>
          </a:p>
          <a:p>
            <a:r>
              <a:rPr lang="en-US" b="1" dirty="0"/>
              <a:t>Microsoft Excel: </a:t>
            </a:r>
            <a:r>
              <a:rPr lang="en-US" dirty="0"/>
              <a:t>Data cleaning, PivotTables, Pivot Charts, formulas and dashboard creation.</a:t>
            </a:r>
            <a:endParaRPr lang="en-US" u="sng" dirty="0"/>
          </a:p>
        </p:txBody>
      </p:sp>
      <p:pic>
        <p:nvPicPr>
          <p:cNvPr id="4" name="Picture 3">
            <a:extLst>
              <a:ext uri="{FF2B5EF4-FFF2-40B4-BE49-F238E27FC236}">
                <a16:creationId xmlns:a16="http://schemas.microsoft.com/office/drawing/2014/main" id="{6834121B-8266-A5EF-0CE8-DF8759E4EE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018" y="477671"/>
            <a:ext cx="1387871" cy="1377029"/>
          </a:xfrm>
          <a:prstGeom prst="rect">
            <a:avLst/>
          </a:prstGeom>
          <a:noFill/>
        </p:spPr>
      </p:pic>
    </p:spTree>
    <p:extLst>
      <p:ext uri="{BB962C8B-B14F-4D97-AF65-F5344CB8AC3E}">
        <p14:creationId xmlns:p14="http://schemas.microsoft.com/office/powerpoint/2010/main" val="1079263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6A856-29A4-E22B-D976-BF79DB53355D}"/>
              </a:ext>
            </a:extLst>
          </p:cNvPr>
          <p:cNvSpPr>
            <a:spLocks noGrp="1"/>
          </p:cNvSpPr>
          <p:nvPr>
            <p:ph type="ctrTitle"/>
          </p:nvPr>
        </p:nvSpPr>
        <p:spPr>
          <a:xfrm>
            <a:off x="1683171" y="504304"/>
            <a:ext cx="8825658" cy="1379089"/>
          </a:xfrm>
        </p:spPr>
        <p:txBody>
          <a:bodyPr/>
          <a:lstStyle/>
          <a:p>
            <a:pPr algn="ctr"/>
            <a:r>
              <a:rPr lang="en-US" sz="9600" dirty="0">
                <a:latin typeface="Cooper Black" panose="0208090404030B020404" pitchFamily="18" charset="0"/>
              </a:rPr>
              <a:t>Thank You</a:t>
            </a:r>
          </a:p>
        </p:txBody>
      </p:sp>
      <p:sp>
        <p:nvSpPr>
          <p:cNvPr id="3" name="Subtitle 2">
            <a:extLst>
              <a:ext uri="{FF2B5EF4-FFF2-40B4-BE49-F238E27FC236}">
                <a16:creationId xmlns:a16="http://schemas.microsoft.com/office/drawing/2014/main" id="{C406ECA7-2B5B-504D-03AE-59C75CC41BC9}"/>
              </a:ext>
            </a:extLst>
          </p:cNvPr>
          <p:cNvSpPr>
            <a:spLocks noGrp="1"/>
          </p:cNvSpPr>
          <p:nvPr>
            <p:ph type="subTitle" idx="1"/>
          </p:nvPr>
        </p:nvSpPr>
        <p:spPr>
          <a:xfrm>
            <a:off x="1378146" y="5063983"/>
            <a:ext cx="9435708" cy="1282226"/>
          </a:xfrm>
        </p:spPr>
        <p:txBody>
          <a:bodyPr>
            <a:noAutofit/>
          </a:bodyPr>
          <a:lstStyle/>
          <a:p>
            <a:pPr algn="ctr"/>
            <a:r>
              <a:rPr lang="en-US" sz="8800" dirty="0">
                <a:solidFill>
                  <a:schemeClr val="bg1"/>
                </a:solidFill>
                <a:latin typeface="Cooper Black" panose="0208090404030B020404" pitchFamily="18" charset="0"/>
              </a:rPr>
              <a:t>It Ends Here</a:t>
            </a:r>
            <a:endParaRPr lang="en-US" sz="8800" dirty="0">
              <a:solidFill>
                <a:schemeClr val="bg1"/>
              </a:solidFill>
            </a:endParaRPr>
          </a:p>
        </p:txBody>
      </p:sp>
      <p:pic>
        <p:nvPicPr>
          <p:cNvPr id="5" name="Picture 4">
            <a:extLst>
              <a:ext uri="{FF2B5EF4-FFF2-40B4-BE49-F238E27FC236}">
                <a16:creationId xmlns:a16="http://schemas.microsoft.com/office/drawing/2014/main" id="{EA731FED-CDC7-2ECE-56C5-4DF6AA6C60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9486" y="1552486"/>
            <a:ext cx="3753027" cy="3852027"/>
          </a:xfrm>
          <a:prstGeom prst="rect">
            <a:avLst/>
          </a:prstGeom>
          <a:noFill/>
          <a:effectLst>
            <a:innerShdw blurRad="114300">
              <a:prstClr val="black"/>
            </a:innerShdw>
          </a:effectLst>
        </p:spPr>
      </p:pic>
      <p:pic>
        <p:nvPicPr>
          <p:cNvPr id="7" name="Picture 6">
            <a:extLst>
              <a:ext uri="{FF2B5EF4-FFF2-40B4-BE49-F238E27FC236}">
                <a16:creationId xmlns:a16="http://schemas.microsoft.com/office/drawing/2014/main" id="{D2FFE802-C8AF-23B3-7908-BD28773DD2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8146" y="2263844"/>
            <a:ext cx="2841340" cy="2419688"/>
          </a:xfrm>
          <a:prstGeom prst="rect">
            <a:avLst/>
          </a:prstGeom>
          <a:effectLst>
            <a:innerShdw blurRad="114300">
              <a:prstClr val="black"/>
            </a:innerShdw>
          </a:effectLst>
        </p:spPr>
      </p:pic>
      <p:pic>
        <p:nvPicPr>
          <p:cNvPr id="8" name="Picture 7">
            <a:extLst>
              <a:ext uri="{FF2B5EF4-FFF2-40B4-BE49-F238E27FC236}">
                <a16:creationId xmlns:a16="http://schemas.microsoft.com/office/drawing/2014/main" id="{4187517B-F816-182F-2FC7-140FB894BE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2513" y="2263844"/>
            <a:ext cx="2841340" cy="2419688"/>
          </a:xfrm>
          <a:prstGeom prst="rect">
            <a:avLst/>
          </a:prstGeom>
          <a:effectLst>
            <a:innerShdw blurRad="114300">
              <a:prstClr val="black"/>
            </a:innerShdw>
          </a:effectLst>
        </p:spPr>
      </p:pic>
    </p:spTree>
    <p:extLst>
      <p:ext uri="{BB962C8B-B14F-4D97-AF65-F5344CB8AC3E}">
        <p14:creationId xmlns:p14="http://schemas.microsoft.com/office/powerpoint/2010/main" val="29168136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984</TotalTime>
  <Words>1705</Words>
  <Application>Microsoft Office PowerPoint</Application>
  <PresentationFormat>Widescreen</PresentationFormat>
  <Paragraphs>162</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Castellar</vt:lpstr>
      <vt:lpstr>Century Gothic</vt:lpstr>
      <vt:lpstr>Cooper Black</vt:lpstr>
      <vt:lpstr>Wingdings 3</vt:lpstr>
      <vt:lpstr>Ion Boardroom</vt:lpstr>
      <vt:lpstr>Astrosage Call Analysis</vt:lpstr>
      <vt:lpstr>Introduction to AstroSage</vt:lpstr>
      <vt:lpstr>Astrosage Data Overview</vt:lpstr>
      <vt:lpstr>Analytical Approach and Tools</vt:lpstr>
      <vt:lpstr>Customer Demand &amp; Call Volume</vt:lpstr>
      <vt:lpstr>Revenue &amp; Interaction Performance</vt:lpstr>
      <vt:lpstr>Agent Performance &amp; Customer Satisfaction</vt:lpstr>
      <vt:lpstr>Investment Priority</vt:lpstr>
      <vt:lpstr>PowerPoint Presentation</vt:lpstr>
      <vt:lpstr>Investment Risks &amp; Mitigation Strategy</vt:lpstr>
      <vt:lpstr>PowerPoint Presentation</vt:lpstr>
      <vt:lpstr>From Operational Gaps to a Technology Roadmap</vt:lpstr>
      <vt:lpstr>Strategic Recommendation 1: Improve Service Efficiency</vt:lpstr>
      <vt:lpstr>Strategic Recommendation 2: Improve Agent Performance</vt:lpstr>
      <vt:lpstr>Strategic Recommendation 3: Implement Demand-Based Workforce Planning</vt:lpstr>
      <vt:lpstr>Astrosage Call Analysis Dashboard</vt:lpstr>
      <vt:lpstr>Key Features Of The Dashboard</vt:lpstr>
      <vt:lpstr>Conclusion</vt:lpstr>
      <vt:lpstr>Acknowledgements &amp; 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18</cp:revision>
  <dcterms:created xsi:type="dcterms:W3CDTF">2026-08-09T06:24:04Z</dcterms:created>
  <dcterms:modified xsi:type="dcterms:W3CDTF">2026-08-13T15:31:53Z</dcterms:modified>
</cp:coreProperties>
</file>